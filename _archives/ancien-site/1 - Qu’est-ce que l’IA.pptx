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2" r:id="rId3"/>
    <p:sldId id="265" r:id="rId4"/>
    <p:sldId id="266" r:id="rId5"/>
    <p:sldId id="257" r:id="rId6"/>
    <p:sldId id="258" r:id="rId7"/>
    <p:sldId id="261" r:id="rId8"/>
    <p:sldId id="259" r:id="rId9"/>
    <p:sldId id="260" r:id="rId10"/>
    <p:sldId id="263" r:id="rId11"/>
    <p:sldId id="267" r:id="rId12"/>
    <p:sldId id="277" r:id="rId13"/>
    <p:sldId id="264" r:id="rId14"/>
    <p:sldId id="268" r:id="rId15"/>
    <p:sldId id="269" r:id="rId16"/>
    <p:sldId id="270" r:id="rId17"/>
    <p:sldId id="271" r:id="rId18"/>
    <p:sldId id="272" r:id="rId19"/>
    <p:sldId id="273" r:id="rId20"/>
    <p:sldId id="274" r:id="rId21"/>
    <p:sldId id="275" r:id="rId22"/>
    <p:sldId id="276" r:id="rId23"/>
    <p:sldId id="278"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58" autoAdjust="0"/>
    <p:restoredTop sz="94660"/>
  </p:normalViewPr>
  <p:slideViewPr>
    <p:cSldViewPr snapToGrid="0">
      <p:cViewPr varScale="1">
        <p:scale>
          <a:sx n="105" d="100"/>
          <a:sy n="105" d="100"/>
        </p:scale>
        <p:origin x="54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fr-FR"/>
              <a:t>Modifiez le style du titre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BFDED07B-C36D-402D-8B79-63DF074A5E61}" type="datetimeFigureOut">
              <a:rPr lang="fr-FR" smtClean="0"/>
              <a:t>19/03/2026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699978A-F683-489A-950B-BD3CC5EEFE10}" type="slidenum">
              <a:rPr lang="fr-FR" smtClean="0"/>
              <a:t>‹N°›</a:t>
            </a:fld>
            <a:endParaRPr lang="fr-FR"/>
          </a:p>
        </p:txBody>
      </p:sp>
    </p:spTree>
    <p:extLst>
      <p:ext uri="{BB962C8B-B14F-4D97-AF65-F5344CB8AC3E}">
        <p14:creationId xmlns:p14="http://schemas.microsoft.com/office/powerpoint/2010/main" val="5269536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FDED07B-C36D-402D-8B79-63DF074A5E61}" type="datetimeFigureOut">
              <a:rPr lang="fr-FR" smtClean="0"/>
              <a:t>19/03/2026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699978A-F683-489A-950B-BD3CC5EEFE10}" type="slidenum">
              <a:rPr lang="fr-FR" smtClean="0"/>
              <a:t>‹N°›</a:t>
            </a:fld>
            <a:endParaRPr lang="fr-FR"/>
          </a:p>
        </p:txBody>
      </p:sp>
    </p:spTree>
    <p:extLst>
      <p:ext uri="{BB962C8B-B14F-4D97-AF65-F5344CB8AC3E}">
        <p14:creationId xmlns:p14="http://schemas.microsoft.com/office/powerpoint/2010/main" val="34559582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fr-FR"/>
              <a:t>Modifiez le style du titre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FDED07B-C36D-402D-8B79-63DF074A5E61}" type="datetimeFigureOut">
              <a:rPr lang="fr-FR" smtClean="0"/>
              <a:t>19/03/2026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699978A-F683-489A-950B-BD3CC5EEFE10}" type="slidenum">
              <a:rPr lang="fr-FR" smtClean="0"/>
              <a:t>‹N°›</a:t>
            </a:fld>
            <a:endParaRPr lang="fr-FR"/>
          </a:p>
        </p:txBody>
      </p:sp>
    </p:spTree>
    <p:extLst>
      <p:ext uri="{BB962C8B-B14F-4D97-AF65-F5344CB8AC3E}">
        <p14:creationId xmlns:p14="http://schemas.microsoft.com/office/powerpoint/2010/main" val="496393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BFDED07B-C36D-402D-8B79-63DF074A5E61}" type="datetimeFigureOut">
              <a:rPr lang="fr-FR" smtClean="0"/>
              <a:t>19/03/2026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5699978A-F683-489A-950B-BD3CC5EEFE10}" type="slidenum">
              <a:rPr lang="fr-FR" smtClean="0"/>
              <a:t>‹N°›</a:t>
            </a:fld>
            <a:endParaRPr lang="fr-FR"/>
          </a:p>
        </p:txBody>
      </p:sp>
    </p:spTree>
    <p:extLst>
      <p:ext uri="{BB962C8B-B14F-4D97-AF65-F5344CB8AC3E}">
        <p14:creationId xmlns:p14="http://schemas.microsoft.com/office/powerpoint/2010/main" val="14772742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fr-FR"/>
              <a:t>Modifiez le style du titre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BFDED07B-C36D-402D-8B79-63DF074A5E61}" type="datetimeFigureOut">
              <a:rPr lang="fr-FR" smtClean="0"/>
              <a:t>19/03/2026</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5699978A-F683-489A-950B-BD3CC5EEFE10}" type="slidenum">
              <a:rPr lang="fr-FR" smtClean="0"/>
              <a:t>‹N°›</a:t>
            </a:fld>
            <a:endParaRPr lang="fr-FR"/>
          </a:p>
        </p:txBody>
      </p:sp>
    </p:spTree>
    <p:extLst>
      <p:ext uri="{BB962C8B-B14F-4D97-AF65-F5344CB8AC3E}">
        <p14:creationId xmlns:p14="http://schemas.microsoft.com/office/powerpoint/2010/main" val="2388772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BFDED07B-C36D-402D-8B79-63DF074A5E61}" type="datetimeFigureOut">
              <a:rPr lang="fr-FR" smtClean="0"/>
              <a:t>19/03/2026</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5699978A-F683-489A-950B-BD3CC5EEFE10}" type="slidenum">
              <a:rPr lang="fr-FR" smtClean="0"/>
              <a:t>‹N°›</a:t>
            </a:fld>
            <a:endParaRPr lang="fr-FR"/>
          </a:p>
        </p:txBody>
      </p:sp>
    </p:spTree>
    <p:extLst>
      <p:ext uri="{BB962C8B-B14F-4D97-AF65-F5344CB8AC3E}">
        <p14:creationId xmlns:p14="http://schemas.microsoft.com/office/powerpoint/2010/main" val="15125653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FDED07B-C36D-402D-8B79-63DF074A5E61}" type="datetimeFigureOut">
              <a:rPr lang="fr-FR" smtClean="0"/>
              <a:t>19/03/2026</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5699978A-F683-489A-950B-BD3CC5EEFE10}" type="slidenum">
              <a:rPr lang="fr-FR" smtClean="0"/>
              <a:t>‹N°›</a:t>
            </a:fld>
            <a:endParaRPr lang="fr-FR"/>
          </a:p>
        </p:txBody>
      </p:sp>
    </p:spTree>
    <p:extLst>
      <p:ext uri="{BB962C8B-B14F-4D97-AF65-F5344CB8AC3E}">
        <p14:creationId xmlns:p14="http://schemas.microsoft.com/office/powerpoint/2010/main" val="6381963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fr-FR"/>
              <a:t>Modifiez le style du titre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FDED07B-C36D-402D-8B79-63DF074A5E61}" type="datetimeFigureOut">
              <a:rPr lang="fr-FR" smtClean="0"/>
              <a:t>19/03/2026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5699978A-F683-489A-950B-BD3CC5EEFE10}" type="slidenum">
              <a:rPr lang="fr-FR" smtClean="0"/>
              <a:t>‹N°›</a:t>
            </a:fld>
            <a:endParaRPr lang="fr-FR"/>
          </a:p>
        </p:txBody>
      </p:sp>
    </p:spTree>
    <p:extLst>
      <p:ext uri="{BB962C8B-B14F-4D97-AF65-F5344CB8AC3E}">
        <p14:creationId xmlns:p14="http://schemas.microsoft.com/office/powerpoint/2010/main" val="23509689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fr-FR"/>
              <a:t>Modifiez le style du titre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fr-FR"/>
              <a:t>Cliquez sur l'icône pour ajouter une image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BFDED07B-C36D-402D-8B79-63DF074A5E61}" type="datetimeFigureOut">
              <a:rPr lang="fr-FR" smtClean="0"/>
              <a:t>19/03/2026</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5699978A-F683-489A-950B-BD3CC5EEFE10}" type="slidenum">
              <a:rPr lang="fr-FR" smtClean="0"/>
              <a:t>‹N°›</a:t>
            </a:fld>
            <a:endParaRPr lang="fr-FR"/>
          </a:p>
        </p:txBody>
      </p:sp>
    </p:spTree>
    <p:extLst>
      <p:ext uri="{BB962C8B-B14F-4D97-AF65-F5344CB8AC3E}">
        <p14:creationId xmlns:p14="http://schemas.microsoft.com/office/powerpoint/2010/main" val="265209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re et légende">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fr-FR"/>
              <a:t>Modifiez le style du titre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FDED07B-C36D-402D-8B79-63DF074A5E61}" type="datetimeFigureOut">
              <a:rPr lang="fr-FR" smtClean="0"/>
              <a:t>19/03/2026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699978A-F683-489A-950B-BD3CC5EEFE10}" type="slidenum">
              <a:rPr lang="fr-FR" smtClean="0"/>
              <a:t>‹N°›</a:t>
            </a:fld>
            <a:endParaRPr lang="fr-FR"/>
          </a:p>
        </p:txBody>
      </p:sp>
    </p:spTree>
    <p:extLst>
      <p:ext uri="{BB962C8B-B14F-4D97-AF65-F5344CB8AC3E}">
        <p14:creationId xmlns:p14="http://schemas.microsoft.com/office/powerpoint/2010/main" val="3481002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tion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FDED07B-C36D-402D-8B79-63DF074A5E61}" type="datetimeFigureOut">
              <a:rPr lang="fr-FR" smtClean="0"/>
              <a:t>19/03/2026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699978A-F683-489A-950B-BD3CC5EEFE10}" type="slidenum">
              <a:rPr lang="fr-FR" smtClean="0"/>
              <a:t>‹N°›</a:t>
            </a:fld>
            <a:endParaRPr lang="fr-FR"/>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7858377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arte nom">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fr-FR"/>
              <a:t>Modifiez le style du titre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FDED07B-C36D-402D-8B79-63DF074A5E61}" type="datetimeFigureOut">
              <a:rPr lang="fr-FR" smtClean="0"/>
              <a:t>19/03/2026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699978A-F683-489A-950B-BD3CC5EEFE10}" type="slidenum">
              <a:rPr lang="fr-FR" smtClean="0"/>
              <a:t>‹N°›</a:t>
            </a:fld>
            <a:endParaRPr lang="fr-FR"/>
          </a:p>
        </p:txBody>
      </p:sp>
    </p:spTree>
    <p:extLst>
      <p:ext uri="{BB962C8B-B14F-4D97-AF65-F5344CB8AC3E}">
        <p14:creationId xmlns:p14="http://schemas.microsoft.com/office/powerpoint/2010/main" val="9578461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arte nom cita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FDED07B-C36D-402D-8B79-63DF074A5E61}" type="datetimeFigureOut">
              <a:rPr lang="fr-FR" smtClean="0"/>
              <a:t>19/03/2026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699978A-F683-489A-950B-BD3CC5EEFE10}" type="slidenum">
              <a:rPr lang="fr-FR" smtClean="0"/>
              <a:t>‹N°›</a:t>
            </a:fld>
            <a:endParaRPr lang="fr-FR"/>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65937671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rai ou faux">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fr-FR"/>
              <a:t>Modifiez le style du titre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fr-FR"/>
              <a:t>Cliquez pour modifier les styles du texte du masque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BFDED07B-C36D-402D-8B79-63DF074A5E61}" type="datetimeFigureOut">
              <a:rPr lang="fr-FR" smtClean="0"/>
              <a:t>19/03/2026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699978A-F683-489A-950B-BD3CC5EEFE10}" type="slidenum">
              <a:rPr lang="fr-FR" smtClean="0"/>
              <a:t>‹N°›</a:t>
            </a:fld>
            <a:endParaRPr lang="fr-FR"/>
          </a:p>
        </p:txBody>
      </p:sp>
    </p:spTree>
    <p:extLst>
      <p:ext uri="{BB962C8B-B14F-4D97-AF65-F5344CB8AC3E}">
        <p14:creationId xmlns:p14="http://schemas.microsoft.com/office/powerpoint/2010/main" val="11143385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FDED07B-C36D-402D-8B79-63DF074A5E61}" type="datetimeFigureOut">
              <a:rPr lang="fr-FR" smtClean="0"/>
              <a:t>19/03/2026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699978A-F683-489A-950B-BD3CC5EEFE10}" type="slidenum">
              <a:rPr lang="fr-FR" smtClean="0"/>
              <a:t>‹N°›</a:t>
            </a:fld>
            <a:endParaRPr lang="fr-FR"/>
          </a:p>
        </p:txBody>
      </p:sp>
    </p:spTree>
    <p:extLst>
      <p:ext uri="{BB962C8B-B14F-4D97-AF65-F5344CB8AC3E}">
        <p14:creationId xmlns:p14="http://schemas.microsoft.com/office/powerpoint/2010/main" val="23834515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fr-FR"/>
              <a:t>Modifiez le style du titre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BFDED07B-C36D-402D-8B79-63DF074A5E61}" type="datetimeFigureOut">
              <a:rPr lang="fr-FR" smtClean="0"/>
              <a:t>19/03/2026</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5699978A-F683-489A-950B-BD3CC5EEFE10}" type="slidenum">
              <a:rPr lang="fr-FR" smtClean="0"/>
              <a:t>‹N°›</a:t>
            </a:fld>
            <a:endParaRPr lang="fr-FR"/>
          </a:p>
        </p:txBody>
      </p:sp>
    </p:spTree>
    <p:extLst>
      <p:ext uri="{BB962C8B-B14F-4D97-AF65-F5344CB8AC3E}">
        <p14:creationId xmlns:p14="http://schemas.microsoft.com/office/powerpoint/2010/main" val="40458065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fr-FR"/>
              <a:t>Modifiez le style du titre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FDED07B-C36D-402D-8B79-63DF074A5E61}" type="datetimeFigureOut">
              <a:rPr lang="fr-FR" smtClean="0"/>
              <a:t>19/03/2026</a:t>
            </a:fld>
            <a:endParaRPr lang="fr-FR"/>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699978A-F683-489A-950B-BD3CC5EEFE10}" type="slidenum">
              <a:rPr lang="fr-FR" smtClean="0"/>
              <a:t>‹N°›</a:t>
            </a:fld>
            <a:endParaRPr lang="fr-FR"/>
          </a:p>
        </p:txBody>
      </p:sp>
    </p:spTree>
    <p:extLst>
      <p:ext uri="{BB962C8B-B14F-4D97-AF65-F5344CB8AC3E}">
        <p14:creationId xmlns:p14="http://schemas.microsoft.com/office/powerpoint/2010/main" val="256668298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hyperlink" Target="https://www.youtube.com/watch?v=1OqdxkweUsw" TargetMode="Externa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31202B7-63A0-E61A-9D42-F2FCE57DFD07}"/>
              </a:ext>
            </a:extLst>
          </p:cNvPr>
          <p:cNvSpPr>
            <a:spLocks noGrp="1"/>
          </p:cNvSpPr>
          <p:nvPr>
            <p:ph type="ctrTitle"/>
          </p:nvPr>
        </p:nvSpPr>
        <p:spPr>
          <a:xfrm>
            <a:off x="1507067" y="711200"/>
            <a:ext cx="7766936" cy="3339636"/>
          </a:xfrm>
        </p:spPr>
        <p:txBody>
          <a:bodyPr anchor="ctr"/>
          <a:lstStyle/>
          <a:p>
            <a:pPr algn="ctr"/>
            <a:r>
              <a:rPr lang="fr-FR" b="1" dirty="0">
                <a:latin typeface="Calibri" panose="020F0502020204030204" pitchFamily="34" charset="0"/>
                <a:ea typeface="Calibri" panose="020F0502020204030204" pitchFamily="34" charset="0"/>
                <a:cs typeface="Calibri" panose="020F0502020204030204" pitchFamily="34" charset="0"/>
              </a:rPr>
              <a:t>Séance </a:t>
            </a:r>
            <a:r>
              <a:rPr lang="fr-FR" b="1">
                <a:latin typeface="Calibri" panose="020F0502020204030204" pitchFamily="34" charset="0"/>
                <a:ea typeface="Calibri" panose="020F0502020204030204" pitchFamily="34" charset="0"/>
                <a:cs typeface="Calibri" panose="020F0502020204030204" pitchFamily="34" charset="0"/>
              </a:rPr>
              <a:t>34 - </a:t>
            </a:r>
            <a:r>
              <a:rPr lang="fr-FR" b="1" dirty="0">
                <a:latin typeface="Calibri" panose="020F0502020204030204" pitchFamily="34" charset="0"/>
                <a:ea typeface="Calibri" panose="020F0502020204030204" pitchFamily="34" charset="0"/>
                <a:cs typeface="Calibri" panose="020F0502020204030204" pitchFamily="34" charset="0"/>
              </a:rPr>
              <a:t>Qu’est-ce que l’IA ?</a:t>
            </a:r>
            <a:endParaRPr lang="fr-FR" dirty="0">
              <a:latin typeface="Calibri" panose="020F0502020204030204" pitchFamily="34" charset="0"/>
              <a:ea typeface="Calibri" panose="020F0502020204030204" pitchFamily="34" charset="0"/>
              <a:cs typeface="Calibri" panose="020F0502020204030204" pitchFamily="34" charset="0"/>
            </a:endParaRPr>
          </a:p>
        </p:txBody>
      </p:sp>
      <p:sp>
        <p:nvSpPr>
          <p:cNvPr id="3" name="Sous-titre 2">
            <a:extLst>
              <a:ext uri="{FF2B5EF4-FFF2-40B4-BE49-F238E27FC236}">
                <a16:creationId xmlns:a16="http://schemas.microsoft.com/office/drawing/2014/main" id="{3BFBDBD5-A93D-1CA4-7673-8A4C31BEB3A0}"/>
              </a:ext>
            </a:extLst>
          </p:cNvPr>
          <p:cNvSpPr>
            <a:spLocks noGrp="1"/>
          </p:cNvSpPr>
          <p:nvPr>
            <p:ph type="subTitle" idx="1"/>
          </p:nvPr>
        </p:nvSpPr>
        <p:spPr/>
        <p:txBody>
          <a:bodyPr anchor="ctr"/>
          <a:lstStyle/>
          <a:p>
            <a:pPr algn="ctr"/>
            <a:r>
              <a:rPr lang="fr-FR" b="1" dirty="0">
                <a:latin typeface="Calibri" panose="020F0502020204030204" pitchFamily="34" charset="0"/>
                <a:ea typeface="Calibri" panose="020F0502020204030204" pitchFamily="34" charset="0"/>
                <a:cs typeface="Calibri" panose="020F0502020204030204" pitchFamily="34" charset="0"/>
              </a:rPr>
              <a:t>Comment fonctionne une IA ?</a:t>
            </a:r>
            <a:endParaRPr lang="fr-FR"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66604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46CB28-B86E-C5B7-7FB8-D45F2EF63A33}"/>
              </a:ext>
            </a:extLst>
          </p:cNvPr>
          <p:cNvSpPr>
            <a:spLocks noGrp="1"/>
          </p:cNvSpPr>
          <p:nvPr>
            <p:ph type="title"/>
          </p:nvPr>
        </p:nvSpPr>
        <p:spPr/>
        <p:txBody>
          <a:bodyPr anchor="ctr"/>
          <a:lstStyle/>
          <a:p>
            <a:pPr algn="ctr"/>
            <a:r>
              <a:rPr lang="fr-FR" b="1" dirty="0">
                <a:latin typeface="Calibri" panose="020F0502020204030204" pitchFamily="34" charset="0"/>
                <a:ea typeface="Calibri" panose="020F0502020204030204" pitchFamily="34" charset="0"/>
                <a:cs typeface="Calibri" panose="020F0502020204030204" pitchFamily="34" charset="0"/>
              </a:rPr>
              <a:t>Intention de la séance</a:t>
            </a:r>
            <a:endParaRPr lang="fr-FR" dirty="0">
              <a:latin typeface="Calibri" panose="020F0502020204030204" pitchFamily="34" charset="0"/>
              <a:ea typeface="Calibri" panose="020F0502020204030204" pitchFamily="34" charset="0"/>
              <a:cs typeface="Calibri" panose="020F0502020204030204" pitchFamily="34" charset="0"/>
            </a:endParaRPr>
          </a:p>
        </p:txBody>
      </p:sp>
      <p:sp>
        <p:nvSpPr>
          <p:cNvPr id="3" name="Espace réservé du contenu 2">
            <a:extLst>
              <a:ext uri="{FF2B5EF4-FFF2-40B4-BE49-F238E27FC236}">
                <a16:creationId xmlns:a16="http://schemas.microsoft.com/office/drawing/2014/main" id="{C0D6ED11-2929-CA21-78FB-343341C3FEEA}"/>
              </a:ext>
            </a:extLst>
          </p:cNvPr>
          <p:cNvSpPr>
            <a:spLocks noGrp="1"/>
          </p:cNvSpPr>
          <p:nvPr>
            <p:ph idx="1"/>
          </p:nvPr>
        </p:nvSpPr>
        <p:spPr>
          <a:xfrm>
            <a:off x="677334" y="2160590"/>
            <a:ext cx="8596668" cy="1463144"/>
          </a:xfrm>
        </p:spPr>
        <p:txBody>
          <a:bodyPr/>
          <a:lstStyle/>
          <a:p>
            <a:pPr marL="0" indent="0">
              <a:buNone/>
            </a:pPr>
            <a:r>
              <a:rPr lang="fr-FR" dirty="0">
                <a:latin typeface="Calibri" panose="020F0502020204030204" pitchFamily="34" charset="0"/>
                <a:ea typeface="Calibri" panose="020F0502020204030204" pitchFamily="34" charset="0"/>
                <a:cs typeface="Calibri" panose="020F0502020204030204" pitchFamily="34" charset="0"/>
              </a:rPr>
              <a:t>Cette séance doit </a:t>
            </a:r>
            <a:r>
              <a:rPr lang="fr-FR" b="1" dirty="0">
                <a:latin typeface="Calibri" panose="020F0502020204030204" pitchFamily="34" charset="0"/>
                <a:ea typeface="Calibri" panose="020F0502020204030204" pitchFamily="34" charset="0"/>
                <a:cs typeface="Calibri" panose="020F0502020204030204" pitchFamily="34" charset="0"/>
              </a:rPr>
              <a:t>démystifier l’intelligence artificielle</a:t>
            </a:r>
            <a:r>
              <a:rPr lang="fr-FR" dirty="0">
                <a:latin typeface="Calibri" panose="020F0502020204030204" pitchFamily="34" charset="0"/>
                <a:ea typeface="Calibri" panose="020F0502020204030204" pitchFamily="34" charset="0"/>
                <a:cs typeface="Calibri" panose="020F0502020204030204" pitchFamily="34" charset="0"/>
              </a:rPr>
              <a:t>.</a:t>
            </a:r>
            <a:br>
              <a:rPr lang="fr-FR" dirty="0">
                <a:latin typeface="Calibri" panose="020F0502020204030204" pitchFamily="34" charset="0"/>
                <a:ea typeface="Calibri" panose="020F0502020204030204" pitchFamily="34" charset="0"/>
                <a:cs typeface="Calibri" panose="020F0502020204030204" pitchFamily="34" charset="0"/>
              </a:rPr>
            </a:br>
            <a:r>
              <a:rPr lang="fr-FR" dirty="0">
                <a:latin typeface="Calibri" panose="020F0502020204030204" pitchFamily="34" charset="0"/>
                <a:ea typeface="Calibri" panose="020F0502020204030204" pitchFamily="34" charset="0"/>
                <a:cs typeface="Calibri" panose="020F0502020204030204" pitchFamily="34" charset="0"/>
              </a:rPr>
              <a:t>Vous entendez ce mot partout. Beaucoup imaginent une machine “intelligente” au sens humain, presque magique. </a:t>
            </a:r>
            <a:r>
              <a:rPr lang="fr-FR" b="1" dirty="0">
                <a:latin typeface="Calibri" panose="020F0502020204030204" pitchFamily="34" charset="0"/>
                <a:ea typeface="Calibri" panose="020F0502020204030204" pitchFamily="34" charset="0"/>
                <a:cs typeface="Calibri" panose="020F0502020204030204" pitchFamily="34" charset="0"/>
              </a:rPr>
              <a:t>Ramenons l’IA sur terre</a:t>
            </a:r>
            <a:r>
              <a:rPr lang="fr-FR" dirty="0">
                <a:latin typeface="Calibri" panose="020F0502020204030204" pitchFamily="34" charset="0"/>
                <a:ea typeface="Calibri" panose="020F0502020204030204" pitchFamily="34" charset="0"/>
                <a:cs typeface="Calibri" panose="020F0502020204030204" pitchFamily="34" charset="0"/>
              </a:rPr>
              <a:t> :</a:t>
            </a:r>
          </a:p>
        </p:txBody>
      </p:sp>
      <p:sp>
        <p:nvSpPr>
          <p:cNvPr id="4" name="Espace réservé du contenu 2">
            <a:extLst>
              <a:ext uri="{FF2B5EF4-FFF2-40B4-BE49-F238E27FC236}">
                <a16:creationId xmlns:a16="http://schemas.microsoft.com/office/drawing/2014/main" id="{7C3B86F1-DDEF-20FC-4592-7BC0D5A94290}"/>
              </a:ext>
            </a:extLst>
          </p:cNvPr>
          <p:cNvSpPr txBox="1">
            <a:spLocks/>
          </p:cNvSpPr>
          <p:nvPr/>
        </p:nvSpPr>
        <p:spPr>
          <a:xfrm>
            <a:off x="677334" y="3853924"/>
            <a:ext cx="8596668" cy="1463144"/>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lvl="0"/>
            <a:r>
              <a:rPr lang="fr-FR" dirty="0">
                <a:latin typeface="Calibri" panose="020F0502020204030204" pitchFamily="34" charset="0"/>
                <a:ea typeface="Calibri" panose="020F0502020204030204" pitchFamily="34" charset="0"/>
                <a:cs typeface="Calibri" panose="020F0502020204030204" pitchFamily="34" charset="0"/>
              </a:rPr>
              <a:t>Une IA n’est pas une conscience,</a:t>
            </a:r>
          </a:p>
          <a:p>
            <a:pPr lvl="0"/>
            <a:r>
              <a:rPr lang="fr-FR" dirty="0">
                <a:latin typeface="Calibri" panose="020F0502020204030204" pitchFamily="34" charset="0"/>
                <a:ea typeface="Calibri" panose="020F0502020204030204" pitchFamily="34" charset="0"/>
                <a:cs typeface="Calibri" panose="020F0502020204030204" pitchFamily="34" charset="0"/>
              </a:rPr>
              <a:t>Une IA n’est pas une vérité,</a:t>
            </a:r>
          </a:p>
          <a:p>
            <a:pPr lvl="0"/>
            <a:r>
              <a:rPr lang="fr-FR" dirty="0">
                <a:latin typeface="Calibri" panose="020F0502020204030204" pitchFamily="34" charset="0"/>
                <a:ea typeface="Calibri" panose="020F0502020204030204" pitchFamily="34" charset="0"/>
                <a:cs typeface="Calibri" panose="020F0502020204030204" pitchFamily="34" charset="0"/>
              </a:rPr>
              <a:t>Une IA produit à partir de </a:t>
            </a:r>
            <a:r>
              <a:rPr lang="fr-FR" b="1" dirty="0">
                <a:latin typeface="Calibri" panose="020F0502020204030204" pitchFamily="34" charset="0"/>
                <a:ea typeface="Calibri" panose="020F0502020204030204" pitchFamily="34" charset="0"/>
                <a:cs typeface="Calibri" panose="020F0502020204030204" pitchFamily="34" charset="0"/>
              </a:rPr>
              <a:t>données</a:t>
            </a:r>
            <a:r>
              <a:rPr lang="fr-FR" dirty="0">
                <a:latin typeface="Calibri" panose="020F0502020204030204" pitchFamily="34" charset="0"/>
                <a:ea typeface="Calibri" panose="020F0502020204030204" pitchFamily="34" charset="0"/>
                <a:cs typeface="Calibri" panose="020F0502020204030204" pitchFamily="34" charset="0"/>
              </a:rPr>
              <a:t>, de </a:t>
            </a:r>
            <a:r>
              <a:rPr lang="fr-FR" b="1" dirty="0">
                <a:latin typeface="Calibri" panose="020F0502020204030204" pitchFamily="34" charset="0"/>
                <a:ea typeface="Calibri" panose="020F0502020204030204" pitchFamily="34" charset="0"/>
                <a:cs typeface="Calibri" panose="020F0502020204030204" pitchFamily="34" charset="0"/>
              </a:rPr>
              <a:t>calculs</a:t>
            </a:r>
            <a:r>
              <a:rPr lang="fr-FR" dirty="0">
                <a:latin typeface="Calibri" panose="020F0502020204030204" pitchFamily="34" charset="0"/>
                <a:ea typeface="Calibri" panose="020F0502020204030204" pitchFamily="34" charset="0"/>
                <a:cs typeface="Calibri" panose="020F0502020204030204" pitchFamily="34" charset="0"/>
              </a:rPr>
              <a:t> et de </a:t>
            </a:r>
            <a:r>
              <a:rPr lang="fr-FR" b="1" dirty="0">
                <a:latin typeface="Calibri" panose="020F0502020204030204" pitchFamily="34" charset="0"/>
                <a:ea typeface="Calibri" panose="020F0502020204030204" pitchFamily="34" charset="0"/>
                <a:cs typeface="Calibri" panose="020F0502020204030204" pitchFamily="34" charset="0"/>
              </a:rPr>
              <a:t>probabilités</a:t>
            </a:r>
            <a:r>
              <a:rPr lang="fr-FR" dirty="0">
                <a:latin typeface="Calibri" panose="020F0502020204030204" pitchFamily="34" charset="0"/>
                <a:ea typeface="Calibri" panose="020F0502020204030204" pitchFamily="34" charset="0"/>
                <a:cs typeface="Calibri" panose="020F0502020204030204" pitchFamily="34" charset="0"/>
              </a:rPr>
              <a:t>,</a:t>
            </a:r>
          </a:p>
          <a:p>
            <a:pPr lvl="0"/>
            <a:r>
              <a:rPr lang="fr-FR" dirty="0">
                <a:latin typeface="Calibri" panose="020F0502020204030204" pitchFamily="34" charset="0"/>
                <a:ea typeface="Calibri" panose="020F0502020204030204" pitchFamily="34" charset="0"/>
                <a:cs typeface="Calibri" panose="020F0502020204030204" pitchFamily="34" charset="0"/>
              </a:rPr>
              <a:t>Une IA peut être </a:t>
            </a:r>
            <a:r>
              <a:rPr lang="fr-FR" b="1" dirty="0">
                <a:latin typeface="Calibri" panose="020F0502020204030204" pitchFamily="34" charset="0"/>
                <a:ea typeface="Calibri" panose="020F0502020204030204" pitchFamily="34" charset="0"/>
                <a:cs typeface="Calibri" panose="020F0502020204030204" pitchFamily="34" charset="0"/>
              </a:rPr>
              <a:t>utile</a:t>
            </a:r>
            <a:r>
              <a:rPr lang="fr-FR" dirty="0">
                <a:latin typeface="Calibri" panose="020F0502020204030204" pitchFamily="34" charset="0"/>
                <a:ea typeface="Calibri" panose="020F0502020204030204" pitchFamily="34" charset="0"/>
                <a:cs typeface="Calibri" panose="020F0502020204030204" pitchFamily="34" charset="0"/>
              </a:rPr>
              <a:t>, mais aussi </a:t>
            </a:r>
            <a:r>
              <a:rPr lang="fr-FR" b="1" dirty="0">
                <a:latin typeface="Calibri" panose="020F0502020204030204" pitchFamily="34" charset="0"/>
                <a:ea typeface="Calibri" panose="020F0502020204030204" pitchFamily="34" charset="0"/>
                <a:cs typeface="Calibri" panose="020F0502020204030204" pitchFamily="34" charset="0"/>
              </a:rPr>
              <a:t>se tromper</a:t>
            </a:r>
            <a:r>
              <a:rPr lang="fr-FR" dirty="0">
                <a:latin typeface="Calibri" panose="020F0502020204030204" pitchFamily="34" charset="0"/>
                <a:ea typeface="Calibri" panose="020F0502020204030204" pitchFamily="34" charset="0"/>
                <a:cs typeface="Calibri" panose="020F0502020204030204" pitchFamily="34" charset="0"/>
              </a:rPr>
              <a:t>.</a:t>
            </a:r>
          </a:p>
        </p:txBody>
      </p:sp>
    </p:spTree>
    <p:extLst>
      <p:ext uri="{BB962C8B-B14F-4D97-AF65-F5344CB8AC3E}">
        <p14:creationId xmlns:p14="http://schemas.microsoft.com/office/powerpoint/2010/main" val="36943734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A08B14-6F58-2612-959A-C0E7CD127B37}"/>
              </a:ext>
            </a:extLst>
          </p:cNvPr>
          <p:cNvSpPr>
            <a:spLocks noGrp="1"/>
          </p:cNvSpPr>
          <p:nvPr>
            <p:ph type="title"/>
          </p:nvPr>
        </p:nvSpPr>
        <p:spPr/>
        <p:txBody>
          <a:bodyPr anchor="ctr"/>
          <a:lstStyle/>
          <a:p>
            <a:pPr algn="ctr"/>
            <a:r>
              <a:rPr lang="fr-FR" b="1" dirty="0">
                <a:latin typeface="Calibri" panose="020F0502020204030204" pitchFamily="34" charset="0"/>
                <a:ea typeface="Calibri" panose="020F0502020204030204" pitchFamily="34" charset="0"/>
                <a:cs typeface="Calibri" panose="020F0502020204030204" pitchFamily="34" charset="0"/>
              </a:rPr>
              <a:t>Objectifs de la séance</a:t>
            </a:r>
            <a:endParaRPr lang="fr-FR" dirty="0">
              <a:latin typeface="Calibri" panose="020F0502020204030204" pitchFamily="34" charset="0"/>
              <a:ea typeface="Calibri" panose="020F0502020204030204" pitchFamily="34" charset="0"/>
              <a:cs typeface="Calibri" panose="020F0502020204030204" pitchFamily="34" charset="0"/>
            </a:endParaRPr>
          </a:p>
        </p:txBody>
      </p:sp>
      <p:sp>
        <p:nvSpPr>
          <p:cNvPr id="3" name="Espace réservé du contenu 2">
            <a:extLst>
              <a:ext uri="{FF2B5EF4-FFF2-40B4-BE49-F238E27FC236}">
                <a16:creationId xmlns:a16="http://schemas.microsoft.com/office/drawing/2014/main" id="{9BEF51EC-3DFD-FB36-C541-0A0AECA1E5BC}"/>
              </a:ext>
            </a:extLst>
          </p:cNvPr>
          <p:cNvSpPr>
            <a:spLocks noGrp="1"/>
          </p:cNvSpPr>
          <p:nvPr>
            <p:ph idx="1"/>
          </p:nvPr>
        </p:nvSpPr>
        <p:spPr/>
        <p:txBody>
          <a:bodyPr/>
          <a:lstStyle/>
          <a:p>
            <a:pPr lvl="0"/>
            <a:r>
              <a:rPr lang="fr-FR" dirty="0">
                <a:latin typeface="Calibri" panose="020F0502020204030204" pitchFamily="34" charset="0"/>
                <a:ea typeface="Calibri" panose="020F0502020204030204" pitchFamily="34" charset="0"/>
                <a:cs typeface="Calibri" panose="020F0502020204030204" pitchFamily="34" charset="0"/>
              </a:rPr>
              <a:t>Donner une définition simple d’une IA</a:t>
            </a:r>
          </a:p>
          <a:p>
            <a:pPr lvl="0"/>
            <a:r>
              <a:rPr lang="fr-FR" dirty="0">
                <a:latin typeface="Calibri" panose="020F0502020204030204" pitchFamily="34" charset="0"/>
                <a:ea typeface="Calibri" panose="020F0502020204030204" pitchFamily="34" charset="0"/>
                <a:cs typeface="Calibri" panose="020F0502020204030204" pitchFamily="34" charset="0"/>
              </a:rPr>
              <a:t>Distinguer </a:t>
            </a:r>
            <a:r>
              <a:rPr lang="fr-FR" b="1" dirty="0">
                <a:latin typeface="Calibri" panose="020F0502020204030204" pitchFamily="34" charset="0"/>
                <a:ea typeface="Calibri" panose="020F0502020204030204" pitchFamily="34" charset="0"/>
                <a:cs typeface="Calibri" panose="020F0502020204030204" pitchFamily="34" charset="0"/>
              </a:rPr>
              <a:t>programme classique</a:t>
            </a:r>
            <a:r>
              <a:rPr lang="fr-FR" dirty="0">
                <a:latin typeface="Calibri" panose="020F0502020204030204" pitchFamily="34" charset="0"/>
                <a:ea typeface="Calibri" panose="020F0502020204030204" pitchFamily="34" charset="0"/>
                <a:cs typeface="Calibri" panose="020F0502020204030204" pitchFamily="34" charset="0"/>
              </a:rPr>
              <a:t> et </a:t>
            </a:r>
            <a:r>
              <a:rPr lang="fr-FR" b="1" dirty="0">
                <a:latin typeface="Calibri" panose="020F0502020204030204" pitchFamily="34" charset="0"/>
                <a:ea typeface="Calibri" panose="020F0502020204030204" pitchFamily="34" charset="0"/>
                <a:cs typeface="Calibri" panose="020F0502020204030204" pitchFamily="34" charset="0"/>
              </a:rPr>
              <a:t>IA</a:t>
            </a:r>
            <a:endParaRPr lang="fr-FR" dirty="0">
              <a:latin typeface="Calibri" panose="020F0502020204030204" pitchFamily="34" charset="0"/>
              <a:ea typeface="Calibri" panose="020F0502020204030204" pitchFamily="34" charset="0"/>
              <a:cs typeface="Calibri" panose="020F0502020204030204" pitchFamily="34" charset="0"/>
            </a:endParaRPr>
          </a:p>
          <a:p>
            <a:pPr lvl="0"/>
            <a:r>
              <a:rPr lang="fr-FR" dirty="0">
                <a:latin typeface="Calibri" panose="020F0502020204030204" pitchFamily="34" charset="0"/>
                <a:ea typeface="Calibri" panose="020F0502020204030204" pitchFamily="34" charset="0"/>
                <a:cs typeface="Calibri" panose="020F0502020204030204" pitchFamily="34" charset="0"/>
              </a:rPr>
              <a:t>Expliquer qu’une IA fonctionne à partir de </a:t>
            </a:r>
            <a:r>
              <a:rPr lang="fr-FR" b="1" dirty="0">
                <a:latin typeface="Calibri" panose="020F0502020204030204" pitchFamily="34" charset="0"/>
                <a:ea typeface="Calibri" panose="020F0502020204030204" pitchFamily="34" charset="0"/>
                <a:cs typeface="Calibri" panose="020F0502020204030204" pitchFamily="34" charset="0"/>
              </a:rPr>
              <a:t>données d’entraînement</a:t>
            </a:r>
            <a:endParaRPr lang="fr-FR" dirty="0">
              <a:latin typeface="Calibri" panose="020F0502020204030204" pitchFamily="34" charset="0"/>
              <a:ea typeface="Calibri" panose="020F0502020204030204" pitchFamily="34" charset="0"/>
              <a:cs typeface="Calibri" panose="020F0502020204030204" pitchFamily="34" charset="0"/>
            </a:endParaRPr>
          </a:p>
          <a:p>
            <a:pPr lvl="0"/>
            <a:r>
              <a:rPr lang="fr-FR" dirty="0">
                <a:latin typeface="Calibri" panose="020F0502020204030204" pitchFamily="34" charset="0"/>
                <a:ea typeface="Calibri" panose="020F0502020204030204" pitchFamily="34" charset="0"/>
                <a:cs typeface="Calibri" panose="020F0502020204030204" pitchFamily="34" charset="0"/>
              </a:rPr>
              <a:t>Comprendre qu’une IA </a:t>
            </a:r>
            <a:r>
              <a:rPr lang="fr-FR" b="1" dirty="0">
                <a:latin typeface="Calibri" panose="020F0502020204030204" pitchFamily="34" charset="0"/>
                <a:ea typeface="Calibri" panose="020F0502020204030204" pitchFamily="34" charset="0"/>
                <a:cs typeface="Calibri" panose="020F0502020204030204" pitchFamily="34" charset="0"/>
              </a:rPr>
              <a:t>prévoit</a:t>
            </a:r>
            <a:r>
              <a:rPr lang="fr-FR" dirty="0">
                <a:latin typeface="Calibri" panose="020F0502020204030204" pitchFamily="34" charset="0"/>
                <a:ea typeface="Calibri" panose="020F0502020204030204" pitchFamily="34" charset="0"/>
                <a:cs typeface="Calibri" panose="020F0502020204030204" pitchFamily="34" charset="0"/>
              </a:rPr>
              <a:t>, </a:t>
            </a:r>
            <a:r>
              <a:rPr lang="fr-FR" b="1" dirty="0">
                <a:latin typeface="Calibri" panose="020F0502020204030204" pitchFamily="34" charset="0"/>
                <a:ea typeface="Calibri" panose="020F0502020204030204" pitchFamily="34" charset="0"/>
                <a:cs typeface="Calibri" panose="020F0502020204030204" pitchFamily="34" charset="0"/>
              </a:rPr>
              <a:t>classe</a:t>
            </a:r>
            <a:r>
              <a:rPr lang="fr-FR" dirty="0">
                <a:latin typeface="Calibri" panose="020F0502020204030204" pitchFamily="34" charset="0"/>
                <a:ea typeface="Calibri" panose="020F0502020204030204" pitchFamily="34" charset="0"/>
                <a:cs typeface="Calibri" panose="020F0502020204030204" pitchFamily="34" charset="0"/>
              </a:rPr>
              <a:t>, </a:t>
            </a:r>
            <a:r>
              <a:rPr lang="fr-FR" b="1" dirty="0">
                <a:latin typeface="Calibri" panose="020F0502020204030204" pitchFamily="34" charset="0"/>
                <a:ea typeface="Calibri" panose="020F0502020204030204" pitchFamily="34" charset="0"/>
                <a:cs typeface="Calibri" panose="020F0502020204030204" pitchFamily="34" charset="0"/>
              </a:rPr>
              <a:t>génère</a:t>
            </a:r>
            <a:r>
              <a:rPr lang="fr-FR" dirty="0">
                <a:latin typeface="Calibri" panose="020F0502020204030204" pitchFamily="34" charset="0"/>
                <a:ea typeface="Calibri" panose="020F0502020204030204" pitchFamily="34" charset="0"/>
                <a:cs typeface="Calibri" panose="020F0502020204030204" pitchFamily="34" charset="0"/>
              </a:rPr>
              <a:t> ou </a:t>
            </a:r>
            <a:r>
              <a:rPr lang="fr-FR" b="1" dirty="0">
                <a:latin typeface="Calibri" panose="020F0502020204030204" pitchFamily="34" charset="0"/>
                <a:ea typeface="Calibri" panose="020F0502020204030204" pitchFamily="34" charset="0"/>
                <a:cs typeface="Calibri" panose="020F0502020204030204" pitchFamily="34" charset="0"/>
              </a:rPr>
              <a:t>reconnaît</a:t>
            </a:r>
            <a:r>
              <a:rPr lang="fr-FR" dirty="0">
                <a:latin typeface="Calibri" panose="020F0502020204030204" pitchFamily="34" charset="0"/>
                <a:ea typeface="Calibri" panose="020F0502020204030204" pitchFamily="34" charset="0"/>
                <a:cs typeface="Calibri" panose="020F0502020204030204" pitchFamily="34" charset="0"/>
              </a:rPr>
              <a:t>, mais ne “pense” pas comme un humain</a:t>
            </a:r>
          </a:p>
          <a:p>
            <a:pPr lvl="0"/>
            <a:r>
              <a:rPr lang="fr-FR" dirty="0">
                <a:latin typeface="Calibri" panose="020F0502020204030204" pitchFamily="34" charset="0"/>
                <a:ea typeface="Calibri" panose="020F0502020204030204" pitchFamily="34" charset="0"/>
                <a:cs typeface="Calibri" panose="020F0502020204030204" pitchFamily="34" charset="0"/>
              </a:rPr>
              <a:t>Identifier que les réponses d’une IA peuvent être </a:t>
            </a:r>
            <a:r>
              <a:rPr lang="fr-FR" b="1" dirty="0">
                <a:latin typeface="Calibri" panose="020F0502020204030204" pitchFamily="34" charset="0"/>
                <a:ea typeface="Calibri" panose="020F0502020204030204" pitchFamily="34" charset="0"/>
                <a:cs typeface="Calibri" panose="020F0502020204030204" pitchFamily="34" charset="0"/>
              </a:rPr>
              <a:t>convaincantes mais fausses</a:t>
            </a:r>
            <a:endParaRPr lang="fr-FR" dirty="0">
              <a:latin typeface="Calibri" panose="020F0502020204030204" pitchFamily="34" charset="0"/>
              <a:ea typeface="Calibri" panose="020F0502020204030204" pitchFamily="34" charset="0"/>
              <a:cs typeface="Calibri" panose="020F0502020204030204" pitchFamily="34" charset="0"/>
            </a:endParaRPr>
          </a:p>
          <a:p>
            <a:pPr lvl="0"/>
            <a:r>
              <a:rPr lang="fr-FR" dirty="0">
                <a:latin typeface="Calibri" panose="020F0502020204030204" pitchFamily="34" charset="0"/>
                <a:ea typeface="Calibri" panose="020F0502020204030204" pitchFamily="34" charset="0"/>
                <a:cs typeface="Calibri" panose="020F0502020204030204" pitchFamily="34" charset="0"/>
              </a:rPr>
              <a:t>Adopter un premier regard critique face à une production générée</a:t>
            </a:r>
          </a:p>
        </p:txBody>
      </p:sp>
    </p:spTree>
    <p:extLst>
      <p:ext uri="{BB962C8B-B14F-4D97-AF65-F5344CB8AC3E}">
        <p14:creationId xmlns:p14="http://schemas.microsoft.com/office/powerpoint/2010/main" val="38554336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C989A62-8162-4B70-0AE5-36C9D211C1C2}"/>
              </a:ext>
            </a:extLst>
          </p:cNvPr>
          <p:cNvSpPr>
            <a:spLocks noGrp="1"/>
          </p:cNvSpPr>
          <p:nvPr>
            <p:ph type="title"/>
          </p:nvPr>
        </p:nvSpPr>
        <p:spPr/>
        <p:txBody>
          <a:bodyPr anchor="ctr"/>
          <a:lstStyle/>
          <a:p>
            <a:pPr algn="ctr"/>
            <a:r>
              <a:rPr lang="fr-FR" b="1" dirty="0">
                <a:latin typeface="Calibri" panose="020F0502020204030204" pitchFamily="34" charset="0"/>
                <a:ea typeface="Calibri" panose="020F0502020204030204" pitchFamily="34" charset="0"/>
                <a:cs typeface="Calibri" panose="020F0502020204030204" pitchFamily="34" charset="0"/>
              </a:rPr>
              <a:t>Compétences / notions officielles visées</a:t>
            </a:r>
            <a:endParaRPr lang="fr-FR" dirty="0">
              <a:latin typeface="Calibri" panose="020F0502020204030204" pitchFamily="34" charset="0"/>
              <a:ea typeface="Calibri" panose="020F0502020204030204" pitchFamily="34" charset="0"/>
              <a:cs typeface="Calibri" panose="020F0502020204030204" pitchFamily="34" charset="0"/>
            </a:endParaRPr>
          </a:p>
        </p:txBody>
      </p:sp>
      <p:sp>
        <p:nvSpPr>
          <p:cNvPr id="3" name="Espace réservé du contenu 2">
            <a:extLst>
              <a:ext uri="{FF2B5EF4-FFF2-40B4-BE49-F238E27FC236}">
                <a16:creationId xmlns:a16="http://schemas.microsoft.com/office/drawing/2014/main" id="{73D90450-FA16-EF3F-9E91-A3E0FACDFB4B}"/>
              </a:ext>
            </a:extLst>
          </p:cNvPr>
          <p:cNvSpPr>
            <a:spLocks noGrp="1"/>
          </p:cNvSpPr>
          <p:nvPr>
            <p:ph idx="1"/>
          </p:nvPr>
        </p:nvSpPr>
        <p:spPr/>
        <p:txBody>
          <a:bodyPr/>
          <a:lstStyle/>
          <a:p>
            <a:pPr lvl="0"/>
            <a:r>
              <a:rPr lang="fr-FR" dirty="0">
                <a:latin typeface="Calibri" panose="020F0502020204030204" pitchFamily="34" charset="0"/>
                <a:ea typeface="Calibri" panose="020F0502020204030204" pitchFamily="34" charset="0"/>
                <a:cs typeface="Calibri" panose="020F0502020204030204" pitchFamily="34" charset="0"/>
              </a:rPr>
              <a:t>Comprendre un fonctionnement numérique contemporain</a:t>
            </a:r>
          </a:p>
          <a:p>
            <a:pPr lvl="0"/>
            <a:r>
              <a:rPr lang="fr-FR" dirty="0">
                <a:latin typeface="Calibri" panose="020F0502020204030204" pitchFamily="34" charset="0"/>
                <a:ea typeface="Calibri" panose="020F0502020204030204" pitchFamily="34" charset="0"/>
                <a:cs typeface="Calibri" panose="020F0502020204030204" pitchFamily="34" charset="0"/>
              </a:rPr>
              <a:t>Développer l’esprit critique face aux productions numériques</a:t>
            </a:r>
          </a:p>
          <a:p>
            <a:pPr lvl="0"/>
            <a:r>
              <a:rPr lang="fr-FR" dirty="0">
                <a:latin typeface="Calibri" panose="020F0502020204030204" pitchFamily="34" charset="0"/>
                <a:ea typeface="Calibri" panose="020F0502020204030204" pitchFamily="34" charset="0"/>
                <a:cs typeface="Calibri" panose="020F0502020204030204" pitchFamily="34" charset="0"/>
              </a:rPr>
              <a:t>Relier données, traitement et résultat</a:t>
            </a:r>
          </a:p>
          <a:p>
            <a:pPr lvl="0"/>
            <a:r>
              <a:rPr lang="fr-FR" dirty="0">
                <a:latin typeface="Calibri" panose="020F0502020204030204" pitchFamily="34" charset="0"/>
                <a:ea typeface="Calibri" panose="020F0502020204030204" pitchFamily="34" charset="0"/>
                <a:cs typeface="Calibri" panose="020F0502020204030204" pitchFamily="34" charset="0"/>
              </a:rPr>
              <a:t>Questionner les usages, les limites et les effets des technologies</a:t>
            </a:r>
          </a:p>
          <a:p>
            <a:r>
              <a:rPr lang="fr-FR" dirty="0">
                <a:latin typeface="Calibri" panose="020F0502020204030204" pitchFamily="34" charset="0"/>
                <a:ea typeface="Calibri" panose="020F0502020204030204" pitchFamily="34" charset="0"/>
                <a:cs typeface="Calibri" panose="020F0502020204030204" pitchFamily="34" charset="0"/>
              </a:rPr>
              <a:t>Distinguer automatisation, calcul, information et interprétation humaine</a:t>
            </a:r>
          </a:p>
        </p:txBody>
      </p:sp>
    </p:spTree>
    <p:extLst>
      <p:ext uri="{BB962C8B-B14F-4D97-AF65-F5344CB8AC3E}">
        <p14:creationId xmlns:p14="http://schemas.microsoft.com/office/powerpoint/2010/main" val="565806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5C880CD-613D-DB65-436A-5111B9A1299E}"/>
              </a:ext>
            </a:extLst>
          </p:cNvPr>
          <p:cNvSpPr>
            <a:spLocks noGrp="1"/>
          </p:cNvSpPr>
          <p:nvPr>
            <p:ph type="title"/>
          </p:nvPr>
        </p:nvSpPr>
        <p:spPr/>
        <p:txBody>
          <a:bodyPr anchor="ctr"/>
          <a:lstStyle/>
          <a:p>
            <a:pPr algn="ctr"/>
            <a:r>
              <a:rPr lang="fr-FR" b="1" dirty="0">
                <a:latin typeface="Calibri" panose="020F0502020204030204" pitchFamily="34" charset="0"/>
                <a:ea typeface="Calibri" panose="020F0502020204030204" pitchFamily="34" charset="0"/>
                <a:cs typeface="Calibri" panose="020F0502020204030204" pitchFamily="34" charset="0"/>
              </a:rPr>
              <a:t>“Qu’est-ce qu’une IA ?”</a:t>
            </a:r>
            <a:endParaRPr lang="fr-FR" dirty="0">
              <a:latin typeface="Calibri" panose="020F0502020204030204" pitchFamily="34" charset="0"/>
              <a:ea typeface="Calibri" panose="020F0502020204030204" pitchFamily="34" charset="0"/>
              <a:cs typeface="Calibri" panose="020F0502020204030204" pitchFamily="34" charset="0"/>
            </a:endParaRPr>
          </a:p>
        </p:txBody>
      </p:sp>
      <p:sp>
        <p:nvSpPr>
          <p:cNvPr id="3" name="Espace réservé du contenu 2">
            <a:extLst>
              <a:ext uri="{FF2B5EF4-FFF2-40B4-BE49-F238E27FC236}">
                <a16:creationId xmlns:a16="http://schemas.microsoft.com/office/drawing/2014/main" id="{A426BB75-5CE9-7DE9-1A60-FEFA9BDF668D}"/>
              </a:ext>
            </a:extLst>
          </p:cNvPr>
          <p:cNvSpPr>
            <a:spLocks noGrp="1"/>
          </p:cNvSpPr>
          <p:nvPr>
            <p:ph idx="1"/>
          </p:nvPr>
        </p:nvSpPr>
        <p:spPr>
          <a:xfrm>
            <a:off x="677334" y="2160590"/>
            <a:ext cx="8596668" cy="3718478"/>
          </a:xfrm>
        </p:spPr>
        <p:txBody>
          <a:bodyPr/>
          <a:lstStyle/>
          <a:p>
            <a:pPr lvl="0"/>
            <a:r>
              <a:rPr lang="fr-FR" dirty="0">
                <a:latin typeface="Calibri" panose="020F0502020204030204" pitchFamily="34" charset="0"/>
                <a:ea typeface="Calibri" panose="020F0502020204030204" pitchFamily="34" charset="0"/>
                <a:cs typeface="Calibri" panose="020F0502020204030204" pitchFamily="34" charset="0"/>
              </a:rPr>
              <a:t>“Où en voyez-vous dans votre quotidien ?”</a:t>
            </a:r>
          </a:p>
          <a:p>
            <a:pPr marL="0" lvl="0" indent="0">
              <a:buNone/>
            </a:pPr>
            <a:endParaRPr lang="fr-FR" dirty="0">
              <a:latin typeface="Calibri" panose="020F0502020204030204" pitchFamily="34" charset="0"/>
              <a:ea typeface="Calibri" panose="020F0502020204030204" pitchFamily="34" charset="0"/>
              <a:cs typeface="Calibri" panose="020F0502020204030204" pitchFamily="34" charset="0"/>
            </a:endParaRPr>
          </a:p>
          <a:p>
            <a:pPr marL="0" lvl="0" indent="0">
              <a:buNone/>
            </a:pPr>
            <a:r>
              <a:rPr lang="fr-FR" dirty="0">
                <a:latin typeface="Calibri" panose="020F0502020204030204" pitchFamily="34" charset="0"/>
                <a:ea typeface="Calibri" panose="020F0502020204030204" pitchFamily="34" charset="0"/>
                <a:cs typeface="Calibri" panose="020F0502020204030204" pitchFamily="34" charset="0"/>
              </a:rPr>
              <a:t>À votre avis:</a:t>
            </a:r>
          </a:p>
          <a:p>
            <a:pPr lvl="0"/>
            <a:r>
              <a:rPr lang="fr-FR" dirty="0">
                <a:latin typeface="Calibri" panose="020F0502020204030204" pitchFamily="34" charset="0"/>
                <a:ea typeface="Calibri" panose="020F0502020204030204" pitchFamily="34" charset="0"/>
                <a:cs typeface="Calibri" panose="020F0502020204030204" pitchFamily="34" charset="0"/>
              </a:rPr>
              <a:t>“Est-ce qu’une IA pense ?”</a:t>
            </a:r>
          </a:p>
          <a:p>
            <a:pPr lvl="0"/>
            <a:r>
              <a:rPr lang="fr-FR" dirty="0">
                <a:latin typeface="Calibri" panose="020F0502020204030204" pitchFamily="34" charset="0"/>
                <a:ea typeface="Calibri" panose="020F0502020204030204" pitchFamily="34" charset="0"/>
                <a:cs typeface="Calibri" panose="020F0502020204030204" pitchFamily="34" charset="0"/>
              </a:rPr>
              <a:t>“Est-ce qu’une IA sait ?”</a:t>
            </a:r>
          </a:p>
          <a:p>
            <a:pPr lvl="0"/>
            <a:r>
              <a:rPr lang="fr-FR" dirty="0">
                <a:latin typeface="Calibri" panose="020F0502020204030204" pitchFamily="34" charset="0"/>
                <a:ea typeface="Calibri" panose="020F0502020204030204" pitchFamily="34" charset="0"/>
                <a:cs typeface="Calibri" panose="020F0502020204030204" pitchFamily="34" charset="0"/>
              </a:rPr>
              <a:t>“Est-ce qu’une IA comprend ?”</a:t>
            </a:r>
          </a:p>
        </p:txBody>
      </p:sp>
      <p:sp>
        <p:nvSpPr>
          <p:cNvPr id="4" name="ZoneTexte 3">
            <a:extLst>
              <a:ext uri="{FF2B5EF4-FFF2-40B4-BE49-F238E27FC236}">
                <a16:creationId xmlns:a16="http://schemas.microsoft.com/office/drawing/2014/main" id="{2ACBFFD3-35BE-F18F-79B3-761B123EC431}"/>
              </a:ext>
            </a:extLst>
          </p:cNvPr>
          <p:cNvSpPr txBox="1"/>
          <p:nvPr/>
        </p:nvSpPr>
        <p:spPr>
          <a:xfrm>
            <a:off x="677334" y="6109258"/>
            <a:ext cx="9922933" cy="369332"/>
          </a:xfrm>
          <a:prstGeom prst="rect">
            <a:avLst/>
          </a:prstGeom>
          <a:noFill/>
        </p:spPr>
        <p:txBody>
          <a:bodyPr wrap="square" rtlCol="0" anchor="ctr">
            <a:spAutoFit/>
          </a:bodyPr>
          <a:lstStyle/>
          <a:p>
            <a:pPr algn="ctr"/>
            <a:r>
              <a:rPr lang="fr-FR" b="1" dirty="0">
                <a:latin typeface="Calibri" panose="020F0502020204030204" pitchFamily="34" charset="0"/>
                <a:ea typeface="Calibri" panose="020F0502020204030204" pitchFamily="34" charset="0"/>
                <a:cs typeface="Calibri" panose="020F0502020204030204" pitchFamily="34" charset="0"/>
              </a:rPr>
              <a:t>“Aujourd’hui, on va regarder ce qu’elle est vraiment.”</a:t>
            </a:r>
          </a:p>
        </p:txBody>
      </p:sp>
    </p:spTree>
    <p:extLst>
      <p:ext uri="{BB962C8B-B14F-4D97-AF65-F5344CB8AC3E}">
        <p14:creationId xmlns:p14="http://schemas.microsoft.com/office/powerpoint/2010/main" val="42422576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152788B-0955-0603-74A6-9BBAE2B5EFCE}"/>
              </a:ext>
            </a:extLst>
          </p:cNvPr>
          <p:cNvSpPr>
            <a:spLocks noGrp="1"/>
          </p:cNvSpPr>
          <p:nvPr>
            <p:ph type="title"/>
          </p:nvPr>
        </p:nvSpPr>
        <p:spPr/>
        <p:txBody>
          <a:bodyPr anchor="ctr"/>
          <a:lstStyle/>
          <a:p>
            <a:pPr algn="ctr"/>
            <a:r>
              <a:rPr lang="fr-FR" b="1" dirty="0">
                <a:latin typeface="Calibri" panose="020F0502020204030204" pitchFamily="34" charset="0"/>
                <a:ea typeface="Calibri" panose="020F0502020204030204" pitchFamily="34" charset="0"/>
                <a:cs typeface="Calibri" panose="020F0502020204030204" pitchFamily="34" charset="0"/>
              </a:rPr>
              <a:t>Repères historiques</a:t>
            </a:r>
            <a:endParaRPr lang="fr-FR" dirty="0">
              <a:latin typeface="Calibri" panose="020F0502020204030204" pitchFamily="34" charset="0"/>
              <a:ea typeface="Calibri" panose="020F0502020204030204" pitchFamily="34" charset="0"/>
              <a:cs typeface="Calibri" panose="020F0502020204030204" pitchFamily="34" charset="0"/>
            </a:endParaRPr>
          </a:p>
        </p:txBody>
      </p:sp>
      <p:sp>
        <p:nvSpPr>
          <p:cNvPr id="3" name="Espace réservé du contenu 2">
            <a:extLst>
              <a:ext uri="{FF2B5EF4-FFF2-40B4-BE49-F238E27FC236}">
                <a16:creationId xmlns:a16="http://schemas.microsoft.com/office/drawing/2014/main" id="{FCAA2B11-7892-542C-82F9-9A29EE5F4C08}"/>
              </a:ext>
            </a:extLst>
          </p:cNvPr>
          <p:cNvSpPr>
            <a:spLocks noGrp="1"/>
          </p:cNvSpPr>
          <p:nvPr>
            <p:ph idx="1"/>
          </p:nvPr>
        </p:nvSpPr>
        <p:spPr>
          <a:xfrm>
            <a:off x="677334" y="2160589"/>
            <a:ext cx="8596668" cy="2360611"/>
          </a:xfrm>
        </p:spPr>
        <p:txBody>
          <a:bodyPr/>
          <a:lstStyle/>
          <a:p>
            <a:r>
              <a:rPr lang="fr-FR" dirty="0">
                <a:latin typeface="Calibri" panose="020F0502020204030204" pitchFamily="34" charset="0"/>
                <a:ea typeface="Calibri" panose="020F0502020204030204" pitchFamily="34" charset="0"/>
                <a:cs typeface="Calibri" panose="020F0502020204030204" pitchFamily="34" charset="0"/>
              </a:rPr>
              <a:t>En </a:t>
            </a:r>
            <a:r>
              <a:rPr lang="fr-FR" b="1" dirty="0">
                <a:latin typeface="Calibri" panose="020F0502020204030204" pitchFamily="34" charset="0"/>
                <a:ea typeface="Calibri" panose="020F0502020204030204" pitchFamily="34" charset="0"/>
                <a:cs typeface="Calibri" panose="020F0502020204030204" pitchFamily="34" charset="0"/>
              </a:rPr>
              <a:t>1950</a:t>
            </a:r>
            <a:r>
              <a:rPr lang="fr-FR" dirty="0">
                <a:latin typeface="Calibri" panose="020F0502020204030204" pitchFamily="34" charset="0"/>
                <a:ea typeface="Calibri" panose="020F0502020204030204" pitchFamily="34" charset="0"/>
                <a:cs typeface="Calibri" panose="020F0502020204030204" pitchFamily="34" charset="0"/>
              </a:rPr>
              <a:t>, Alan Turing pose une question célèbre :</a:t>
            </a:r>
            <a:br>
              <a:rPr lang="fr-FR" dirty="0">
                <a:latin typeface="Calibri" panose="020F0502020204030204" pitchFamily="34" charset="0"/>
                <a:ea typeface="Calibri" panose="020F0502020204030204" pitchFamily="34" charset="0"/>
                <a:cs typeface="Calibri" panose="020F0502020204030204" pitchFamily="34" charset="0"/>
              </a:rPr>
            </a:br>
            <a:r>
              <a:rPr lang="fr-FR" b="1" dirty="0">
                <a:latin typeface="Calibri" panose="020F0502020204030204" pitchFamily="34" charset="0"/>
                <a:ea typeface="Calibri" panose="020F0502020204030204" pitchFamily="34" charset="0"/>
                <a:cs typeface="Calibri" panose="020F0502020204030204" pitchFamily="34" charset="0"/>
              </a:rPr>
              <a:t>“Les machines peuvent-elles penser ?”</a:t>
            </a:r>
            <a:endParaRPr lang="fr-FR" dirty="0">
              <a:latin typeface="Calibri" panose="020F0502020204030204" pitchFamily="34" charset="0"/>
              <a:ea typeface="Calibri" panose="020F0502020204030204" pitchFamily="34" charset="0"/>
              <a:cs typeface="Calibri" panose="020F0502020204030204" pitchFamily="34" charset="0"/>
            </a:endParaRPr>
          </a:p>
          <a:p>
            <a:r>
              <a:rPr lang="fr-FR" dirty="0">
                <a:latin typeface="Calibri" panose="020F0502020204030204" pitchFamily="34" charset="0"/>
                <a:ea typeface="Calibri" panose="020F0502020204030204" pitchFamily="34" charset="0"/>
                <a:cs typeface="Calibri" panose="020F0502020204030204" pitchFamily="34" charset="0"/>
              </a:rPr>
              <a:t>En </a:t>
            </a:r>
            <a:r>
              <a:rPr lang="fr-FR" b="1" dirty="0">
                <a:latin typeface="Calibri" panose="020F0502020204030204" pitchFamily="34" charset="0"/>
                <a:ea typeface="Calibri" panose="020F0502020204030204" pitchFamily="34" charset="0"/>
                <a:cs typeface="Calibri" panose="020F0502020204030204" pitchFamily="34" charset="0"/>
              </a:rPr>
              <a:t>1956</a:t>
            </a:r>
            <a:r>
              <a:rPr lang="fr-FR" dirty="0">
                <a:latin typeface="Calibri" panose="020F0502020204030204" pitchFamily="34" charset="0"/>
                <a:ea typeface="Calibri" panose="020F0502020204030204" pitchFamily="34" charset="0"/>
                <a:cs typeface="Calibri" panose="020F0502020204030204" pitchFamily="34" charset="0"/>
              </a:rPr>
              <a:t>, lors de la conférence de Dartmouth, l’expression </a:t>
            </a:r>
            <a:r>
              <a:rPr lang="fr-FR" b="1" dirty="0">
                <a:latin typeface="Calibri" panose="020F0502020204030204" pitchFamily="34" charset="0"/>
                <a:ea typeface="Calibri" panose="020F0502020204030204" pitchFamily="34" charset="0"/>
                <a:cs typeface="Calibri" panose="020F0502020204030204" pitchFamily="34" charset="0"/>
              </a:rPr>
              <a:t>“intelligence artificielle”</a:t>
            </a:r>
            <a:r>
              <a:rPr lang="fr-FR" dirty="0">
                <a:latin typeface="Calibri" panose="020F0502020204030204" pitchFamily="34" charset="0"/>
                <a:ea typeface="Calibri" panose="020F0502020204030204" pitchFamily="34" charset="0"/>
                <a:cs typeface="Calibri" panose="020F0502020204030204" pitchFamily="34" charset="0"/>
              </a:rPr>
              <a:t> est utilisée pour la première fois comme champ de recherche.</a:t>
            </a:r>
          </a:p>
          <a:p>
            <a:r>
              <a:rPr lang="fr-FR" dirty="0">
                <a:latin typeface="Calibri" panose="020F0502020204030204" pitchFamily="34" charset="0"/>
                <a:ea typeface="Calibri" panose="020F0502020204030204" pitchFamily="34" charset="0"/>
                <a:cs typeface="Calibri" panose="020F0502020204030204" pitchFamily="34" charset="0"/>
              </a:rPr>
              <a:t>Plus récemment, les IA dites </a:t>
            </a:r>
            <a:r>
              <a:rPr lang="fr-FR" b="1" dirty="0">
                <a:latin typeface="Calibri" panose="020F0502020204030204" pitchFamily="34" charset="0"/>
                <a:ea typeface="Calibri" panose="020F0502020204030204" pitchFamily="34" charset="0"/>
                <a:cs typeface="Calibri" panose="020F0502020204030204" pitchFamily="34" charset="0"/>
              </a:rPr>
              <a:t>génératives</a:t>
            </a:r>
            <a:r>
              <a:rPr lang="fr-FR" dirty="0">
                <a:latin typeface="Calibri" panose="020F0502020204030204" pitchFamily="34" charset="0"/>
                <a:ea typeface="Calibri" panose="020F0502020204030204" pitchFamily="34" charset="0"/>
                <a:cs typeface="Calibri" panose="020F0502020204030204" pitchFamily="34" charset="0"/>
              </a:rPr>
              <a:t> se diffusent massivement dans la vie quotidienne : textes, images, traduction, assistants, recommandations.</a:t>
            </a:r>
          </a:p>
          <a:p>
            <a:endParaRPr lang="fr-FR" dirty="0">
              <a:latin typeface="Calibri" panose="020F0502020204030204" pitchFamily="34" charset="0"/>
              <a:ea typeface="Calibri" panose="020F0502020204030204" pitchFamily="34" charset="0"/>
              <a:cs typeface="Calibri" panose="020F0502020204030204" pitchFamily="34" charset="0"/>
            </a:endParaRPr>
          </a:p>
        </p:txBody>
      </p:sp>
      <p:sp>
        <p:nvSpPr>
          <p:cNvPr id="4" name="ZoneTexte 3">
            <a:extLst>
              <a:ext uri="{FF2B5EF4-FFF2-40B4-BE49-F238E27FC236}">
                <a16:creationId xmlns:a16="http://schemas.microsoft.com/office/drawing/2014/main" id="{604000FA-94DF-8AAC-7BF4-85BD0AC3E9B3}"/>
              </a:ext>
            </a:extLst>
          </p:cNvPr>
          <p:cNvSpPr txBox="1"/>
          <p:nvPr/>
        </p:nvSpPr>
        <p:spPr>
          <a:xfrm>
            <a:off x="677334" y="4927601"/>
            <a:ext cx="8596668" cy="1200329"/>
          </a:xfrm>
          <a:prstGeom prst="rect">
            <a:avLst/>
          </a:prstGeom>
          <a:noFill/>
        </p:spPr>
        <p:txBody>
          <a:bodyPr wrap="square" rtlCol="0">
            <a:spAutoFit/>
          </a:bodyPr>
          <a:lstStyle/>
          <a:p>
            <a:r>
              <a:rPr lang="fr-FR" b="1" dirty="0">
                <a:latin typeface="Calibri" panose="020F0502020204030204" pitchFamily="34" charset="0"/>
                <a:ea typeface="Calibri" panose="020F0502020204030204" pitchFamily="34" charset="0"/>
                <a:cs typeface="Calibri" panose="020F0502020204030204" pitchFamily="34" charset="0"/>
              </a:rPr>
              <a:t>“L’idée d’intelligence artificielle n’est pas née hier. Mais ce qui a changé aujourd’hui, ce n’est pas le rêve. C’est la puissance des machines, la masse de données disponibles, et le fait que tout cela soit arrivé dans vos poches, sur vos téléphones, dans vos recherches, dans vos applications.”</a:t>
            </a:r>
          </a:p>
        </p:txBody>
      </p:sp>
    </p:spTree>
    <p:extLst>
      <p:ext uri="{BB962C8B-B14F-4D97-AF65-F5344CB8AC3E}">
        <p14:creationId xmlns:p14="http://schemas.microsoft.com/office/powerpoint/2010/main" val="1219756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CF3DE25-E7C7-376B-F297-594BBA717813}"/>
              </a:ext>
            </a:extLst>
          </p:cNvPr>
          <p:cNvSpPr>
            <a:spLocks noGrp="1"/>
          </p:cNvSpPr>
          <p:nvPr>
            <p:ph type="title"/>
          </p:nvPr>
        </p:nvSpPr>
        <p:spPr>
          <a:xfrm>
            <a:off x="677334" y="609600"/>
            <a:ext cx="8596668" cy="875906"/>
          </a:xfrm>
        </p:spPr>
        <p:txBody>
          <a:bodyPr anchor="ctr"/>
          <a:lstStyle/>
          <a:p>
            <a:pPr algn="ctr"/>
            <a:r>
              <a:rPr lang="fr-FR" b="1" dirty="0">
                <a:latin typeface="Calibri" panose="020F0502020204030204" pitchFamily="34" charset="0"/>
                <a:ea typeface="Calibri" panose="020F0502020204030204" pitchFamily="34" charset="0"/>
                <a:cs typeface="Calibri" panose="020F0502020204030204" pitchFamily="34" charset="0"/>
              </a:rPr>
              <a:t>Qu’est-ce qu’une IA ?</a:t>
            </a:r>
            <a:endParaRPr lang="fr-FR" dirty="0">
              <a:latin typeface="Calibri" panose="020F0502020204030204" pitchFamily="34" charset="0"/>
              <a:ea typeface="Calibri" panose="020F0502020204030204" pitchFamily="34" charset="0"/>
              <a:cs typeface="Calibri" panose="020F0502020204030204" pitchFamily="34" charset="0"/>
            </a:endParaRPr>
          </a:p>
        </p:txBody>
      </p:sp>
      <p:sp>
        <p:nvSpPr>
          <p:cNvPr id="3" name="Espace réservé du contenu 2">
            <a:extLst>
              <a:ext uri="{FF2B5EF4-FFF2-40B4-BE49-F238E27FC236}">
                <a16:creationId xmlns:a16="http://schemas.microsoft.com/office/drawing/2014/main" id="{B645A654-C89D-D8D8-FB19-A72A14C107FB}"/>
              </a:ext>
            </a:extLst>
          </p:cNvPr>
          <p:cNvSpPr>
            <a:spLocks noGrp="1"/>
          </p:cNvSpPr>
          <p:nvPr>
            <p:ph idx="1"/>
          </p:nvPr>
        </p:nvSpPr>
        <p:spPr>
          <a:xfrm>
            <a:off x="677333" y="1485506"/>
            <a:ext cx="8822265" cy="1660914"/>
          </a:xfrm>
        </p:spPr>
        <p:txBody>
          <a:bodyPr>
            <a:normAutofit lnSpcReduction="10000"/>
          </a:bodyPr>
          <a:lstStyle/>
          <a:p>
            <a:pPr marL="0" indent="0">
              <a:buNone/>
            </a:pPr>
            <a:r>
              <a:rPr lang="fr-FR" b="1" u="sng" dirty="0">
                <a:latin typeface="Calibri" panose="020F0502020204030204" pitchFamily="34" charset="0"/>
                <a:ea typeface="Calibri" panose="020F0502020204030204" pitchFamily="34" charset="0"/>
                <a:cs typeface="Calibri" panose="020F0502020204030204" pitchFamily="34" charset="0"/>
              </a:rPr>
              <a:t>Définition simple:</a:t>
            </a:r>
          </a:p>
          <a:p>
            <a:pPr marL="0" indent="0">
              <a:buNone/>
            </a:pPr>
            <a:endParaRPr lang="fr-FR" u="sng" dirty="0">
              <a:latin typeface="Calibri" panose="020F0502020204030204" pitchFamily="34" charset="0"/>
              <a:ea typeface="Calibri" panose="020F0502020204030204" pitchFamily="34" charset="0"/>
              <a:cs typeface="Calibri" panose="020F0502020204030204" pitchFamily="34" charset="0"/>
            </a:endParaRPr>
          </a:p>
          <a:p>
            <a:pPr marL="0" indent="0" algn="ctr">
              <a:buNone/>
            </a:pPr>
            <a:r>
              <a:rPr lang="fr-FR" b="1" dirty="0">
                <a:latin typeface="Calibri" panose="020F0502020204030204" pitchFamily="34" charset="0"/>
                <a:ea typeface="Calibri" panose="020F0502020204030204" pitchFamily="34" charset="0"/>
                <a:cs typeface="Calibri" panose="020F0502020204030204" pitchFamily="34" charset="0"/>
              </a:rPr>
              <a:t>Une intelligence artificielle est un système informatique capable d’effectuer, de réaliser certaines tâches qui semblent “intelligentes”, qui donnent l’impression d’un comportement “intelligent”, comme classer, reconnaître, prédire, recommander ou générer.</a:t>
            </a:r>
          </a:p>
          <a:p>
            <a:pPr marL="0" indent="0">
              <a:buNone/>
            </a:pPr>
            <a:endParaRPr lang="fr-FR" dirty="0">
              <a:latin typeface="Calibri" panose="020F0502020204030204" pitchFamily="34" charset="0"/>
              <a:ea typeface="Calibri" panose="020F0502020204030204" pitchFamily="34" charset="0"/>
              <a:cs typeface="Calibri" panose="020F0502020204030204" pitchFamily="34" charset="0"/>
            </a:endParaRPr>
          </a:p>
        </p:txBody>
      </p:sp>
      <p:sp>
        <p:nvSpPr>
          <p:cNvPr id="4" name="Espace réservé du contenu 2">
            <a:extLst>
              <a:ext uri="{FF2B5EF4-FFF2-40B4-BE49-F238E27FC236}">
                <a16:creationId xmlns:a16="http://schemas.microsoft.com/office/drawing/2014/main" id="{1D0BACB3-7B4A-0F23-8972-C445E41AB5D7}"/>
              </a:ext>
            </a:extLst>
          </p:cNvPr>
          <p:cNvSpPr txBox="1">
            <a:spLocks/>
          </p:cNvSpPr>
          <p:nvPr/>
        </p:nvSpPr>
        <p:spPr>
          <a:xfrm>
            <a:off x="677333" y="3429000"/>
            <a:ext cx="8822265" cy="1943494"/>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lvl="0"/>
            <a:r>
              <a:rPr lang="fr-FR" dirty="0">
                <a:latin typeface="Calibri" panose="020F0502020204030204" pitchFamily="34" charset="0"/>
                <a:ea typeface="Calibri" panose="020F0502020204030204" pitchFamily="34" charset="0"/>
                <a:cs typeface="Calibri" panose="020F0502020204030204" pitchFamily="34" charset="0"/>
              </a:rPr>
              <a:t>Reconnaître une image,</a:t>
            </a:r>
          </a:p>
          <a:p>
            <a:pPr lvl="0"/>
            <a:r>
              <a:rPr lang="fr-FR" dirty="0">
                <a:latin typeface="Calibri" panose="020F0502020204030204" pitchFamily="34" charset="0"/>
                <a:ea typeface="Calibri" panose="020F0502020204030204" pitchFamily="34" charset="0"/>
                <a:cs typeface="Calibri" panose="020F0502020204030204" pitchFamily="34" charset="0"/>
              </a:rPr>
              <a:t>Traduire un texte,</a:t>
            </a:r>
          </a:p>
          <a:p>
            <a:pPr lvl="0"/>
            <a:r>
              <a:rPr lang="fr-FR" dirty="0">
                <a:latin typeface="Calibri" panose="020F0502020204030204" pitchFamily="34" charset="0"/>
                <a:ea typeface="Calibri" panose="020F0502020204030204" pitchFamily="34" charset="0"/>
                <a:cs typeface="Calibri" panose="020F0502020204030204" pitchFamily="34" charset="0"/>
              </a:rPr>
              <a:t>Répondre à une question,</a:t>
            </a:r>
          </a:p>
          <a:p>
            <a:pPr lvl="0"/>
            <a:r>
              <a:rPr lang="fr-FR" dirty="0">
                <a:latin typeface="Calibri" panose="020F0502020204030204" pitchFamily="34" charset="0"/>
                <a:ea typeface="Calibri" panose="020F0502020204030204" pitchFamily="34" charset="0"/>
                <a:cs typeface="Calibri" panose="020F0502020204030204" pitchFamily="34" charset="0"/>
              </a:rPr>
              <a:t>Recommander un contenu,</a:t>
            </a:r>
          </a:p>
          <a:p>
            <a:pPr lvl="0"/>
            <a:r>
              <a:rPr lang="fr-FR" dirty="0">
                <a:latin typeface="Calibri" panose="020F0502020204030204" pitchFamily="34" charset="0"/>
                <a:ea typeface="Calibri" panose="020F0502020204030204" pitchFamily="34" charset="0"/>
                <a:cs typeface="Calibri" panose="020F0502020204030204" pitchFamily="34" charset="0"/>
              </a:rPr>
              <a:t>Générer du texte, du son ou une image.</a:t>
            </a:r>
          </a:p>
        </p:txBody>
      </p:sp>
      <p:sp>
        <p:nvSpPr>
          <p:cNvPr id="7" name="Espace réservé du contenu 2">
            <a:extLst>
              <a:ext uri="{FF2B5EF4-FFF2-40B4-BE49-F238E27FC236}">
                <a16:creationId xmlns:a16="http://schemas.microsoft.com/office/drawing/2014/main" id="{B8D47A54-F25C-CF6D-C70A-B92D6A2AD97E}"/>
              </a:ext>
            </a:extLst>
          </p:cNvPr>
          <p:cNvSpPr txBox="1">
            <a:spLocks/>
          </p:cNvSpPr>
          <p:nvPr/>
        </p:nvSpPr>
        <p:spPr>
          <a:xfrm>
            <a:off x="677333" y="5655074"/>
            <a:ext cx="8822265" cy="108439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fr-FR" dirty="0"/>
              <a:t>Une IA </a:t>
            </a:r>
            <a:r>
              <a:rPr lang="fr-FR" b="1" dirty="0"/>
              <a:t>ne comprend pas le monde comme un humain</a:t>
            </a:r>
            <a:r>
              <a:rPr lang="fr-FR" dirty="0"/>
              <a:t>.</a:t>
            </a:r>
            <a:br>
              <a:rPr lang="fr-FR" dirty="0"/>
            </a:br>
            <a:r>
              <a:rPr lang="fr-FR" dirty="0"/>
              <a:t>Elle traite des données, repère des régularités, calcule des probabilités, puis produit une réponse.</a:t>
            </a:r>
          </a:p>
        </p:txBody>
      </p:sp>
    </p:spTree>
    <p:extLst>
      <p:ext uri="{BB962C8B-B14F-4D97-AF65-F5344CB8AC3E}">
        <p14:creationId xmlns:p14="http://schemas.microsoft.com/office/powerpoint/2010/main" val="21634698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C75B00-2555-A3C6-CA0B-EA7489AD3149}"/>
              </a:ext>
            </a:extLst>
          </p:cNvPr>
          <p:cNvSpPr>
            <a:spLocks noGrp="1"/>
          </p:cNvSpPr>
          <p:nvPr>
            <p:ph type="title"/>
          </p:nvPr>
        </p:nvSpPr>
        <p:spPr/>
        <p:txBody>
          <a:bodyPr anchor="ctr"/>
          <a:lstStyle/>
          <a:p>
            <a:pPr algn="ctr"/>
            <a:r>
              <a:rPr lang="fr-FR" b="1" dirty="0">
                <a:latin typeface="Calibri" panose="020F0502020204030204" pitchFamily="34" charset="0"/>
                <a:ea typeface="Calibri" panose="020F0502020204030204" pitchFamily="34" charset="0"/>
                <a:cs typeface="Calibri" panose="020F0502020204030204" pitchFamily="34" charset="0"/>
              </a:rPr>
              <a:t>Qu’est-ce qu’une IA ?</a:t>
            </a:r>
            <a:endParaRPr lang="fr-FR" dirty="0">
              <a:latin typeface="Calibri" panose="020F0502020204030204" pitchFamily="34" charset="0"/>
              <a:ea typeface="Calibri" panose="020F0502020204030204" pitchFamily="34" charset="0"/>
              <a:cs typeface="Calibri" panose="020F0502020204030204" pitchFamily="34" charset="0"/>
            </a:endParaRPr>
          </a:p>
        </p:txBody>
      </p:sp>
      <p:sp>
        <p:nvSpPr>
          <p:cNvPr id="7" name="Espace réservé du contenu 6">
            <a:extLst>
              <a:ext uri="{FF2B5EF4-FFF2-40B4-BE49-F238E27FC236}">
                <a16:creationId xmlns:a16="http://schemas.microsoft.com/office/drawing/2014/main" id="{0471E168-58BF-2C8B-8937-B1EF409C7C29}"/>
              </a:ext>
            </a:extLst>
          </p:cNvPr>
          <p:cNvSpPr>
            <a:spLocks noGrp="1"/>
          </p:cNvSpPr>
          <p:nvPr>
            <p:ph sz="quarter" idx="4"/>
          </p:nvPr>
        </p:nvSpPr>
        <p:spPr>
          <a:xfrm>
            <a:off x="677334" y="1930400"/>
            <a:ext cx="10328655" cy="3457448"/>
          </a:xfrm>
        </p:spPr>
        <p:txBody>
          <a:bodyPr>
            <a:normAutofit/>
          </a:bodyPr>
          <a:lstStyle/>
          <a:p>
            <a:pPr lvl="0"/>
            <a:r>
              <a:rPr lang="fr-FR" dirty="0">
                <a:latin typeface="Calibri" panose="020F0502020204030204" pitchFamily="34" charset="0"/>
                <a:ea typeface="Calibri" panose="020F0502020204030204" pitchFamily="34" charset="0"/>
                <a:cs typeface="Calibri" panose="020F0502020204030204" pitchFamily="34" charset="0"/>
              </a:rPr>
              <a:t>Elle ne ressent pas</a:t>
            </a:r>
          </a:p>
          <a:p>
            <a:pPr lvl="0"/>
            <a:r>
              <a:rPr lang="fr-FR" dirty="0">
                <a:latin typeface="Calibri" panose="020F0502020204030204" pitchFamily="34" charset="0"/>
                <a:ea typeface="Calibri" panose="020F0502020204030204" pitchFamily="34" charset="0"/>
                <a:cs typeface="Calibri" panose="020F0502020204030204" pitchFamily="34" charset="0"/>
              </a:rPr>
              <a:t>Elle ne veut rien</a:t>
            </a:r>
          </a:p>
          <a:p>
            <a:pPr lvl="0"/>
            <a:r>
              <a:rPr lang="fr-FR" dirty="0">
                <a:latin typeface="Calibri" panose="020F0502020204030204" pitchFamily="34" charset="0"/>
                <a:ea typeface="Calibri" panose="020F0502020204030204" pitchFamily="34" charset="0"/>
                <a:cs typeface="Calibri" panose="020F0502020204030204" pitchFamily="34" charset="0"/>
              </a:rPr>
              <a:t>Elle n’a pas d’intention propre</a:t>
            </a:r>
          </a:p>
          <a:p>
            <a:pPr lvl="0"/>
            <a:r>
              <a:rPr lang="fr-FR" dirty="0">
                <a:latin typeface="Calibri" panose="020F0502020204030204" pitchFamily="34" charset="0"/>
                <a:ea typeface="Calibri" panose="020F0502020204030204" pitchFamily="34" charset="0"/>
                <a:cs typeface="Calibri" panose="020F0502020204030204" pitchFamily="34" charset="0"/>
              </a:rPr>
              <a:t>Elle calcule</a:t>
            </a:r>
          </a:p>
          <a:p>
            <a:pPr lvl="0"/>
            <a:r>
              <a:rPr lang="fr-FR" dirty="0">
                <a:latin typeface="Calibri" panose="020F0502020204030204" pitchFamily="34" charset="0"/>
                <a:ea typeface="Calibri" panose="020F0502020204030204" pitchFamily="34" charset="0"/>
                <a:cs typeface="Calibri" panose="020F0502020204030204" pitchFamily="34" charset="0"/>
              </a:rPr>
              <a:t>Elle n’est pas une conscience</a:t>
            </a:r>
          </a:p>
          <a:p>
            <a:pPr lvl="0"/>
            <a:r>
              <a:rPr lang="fr-FR" dirty="0">
                <a:latin typeface="Calibri" panose="020F0502020204030204" pitchFamily="34" charset="0"/>
                <a:ea typeface="Calibri" panose="020F0502020204030204" pitchFamily="34" charset="0"/>
                <a:cs typeface="Calibri" panose="020F0502020204030204" pitchFamily="34" charset="0"/>
              </a:rPr>
              <a:t>Elle n’est pas une vérité</a:t>
            </a:r>
          </a:p>
          <a:p>
            <a:pPr lvl="0"/>
            <a:r>
              <a:rPr lang="fr-FR" dirty="0">
                <a:latin typeface="Calibri" panose="020F0502020204030204" pitchFamily="34" charset="0"/>
                <a:ea typeface="Calibri" panose="020F0502020204030204" pitchFamily="34" charset="0"/>
                <a:cs typeface="Calibri" panose="020F0502020204030204" pitchFamily="34" charset="0"/>
              </a:rPr>
              <a:t>Elle produit à partir de </a:t>
            </a:r>
            <a:r>
              <a:rPr lang="fr-FR" b="1" dirty="0">
                <a:latin typeface="Calibri" panose="020F0502020204030204" pitchFamily="34" charset="0"/>
                <a:ea typeface="Calibri" panose="020F0502020204030204" pitchFamily="34" charset="0"/>
                <a:cs typeface="Calibri" panose="020F0502020204030204" pitchFamily="34" charset="0"/>
              </a:rPr>
              <a:t>données</a:t>
            </a:r>
            <a:r>
              <a:rPr lang="fr-FR" dirty="0">
                <a:latin typeface="Calibri" panose="020F0502020204030204" pitchFamily="34" charset="0"/>
                <a:ea typeface="Calibri" panose="020F0502020204030204" pitchFamily="34" charset="0"/>
                <a:cs typeface="Calibri" panose="020F0502020204030204" pitchFamily="34" charset="0"/>
              </a:rPr>
              <a:t>, de </a:t>
            </a:r>
            <a:r>
              <a:rPr lang="fr-FR" b="1" dirty="0">
                <a:latin typeface="Calibri" panose="020F0502020204030204" pitchFamily="34" charset="0"/>
                <a:ea typeface="Calibri" panose="020F0502020204030204" pitchFamily="34" charset="0"/>
                <a:cs typeface="Calibri" panose="020F0502020204030204" pitchFamily="34" charset="0"/>
              </a:rPr>
              <a:t>calculs</a:t>
            </a:r>
            <a:r>
              <a:rPr lang="fr-FR" dirty="0">
                <a:latin typeface="Calibri" panose="020F0502020204030204" pitchFamily="34" charset="0"/>
                <a:ea typeface="Calibri" panose="020F0502020204030204" pitchFamily="34" charset="0"/>
                <a:cs typeface="Calibri" panose="020F0502020204030204" pitchFamily="34" charset="0"/>
              </a:rPr>
              <a:t> et de </a:t>
            </a:r>
            <a:r>
              <a:rPr lang="fr-FR" b="1" dirty="0">
                <a:latin typeface="Calibri" panose="020F0502020204030204" pitchFamily="34" charset="0"/>
                <a:ea typeface="Calibri" panose="020F0502020204030204" pitchFamily="34" charset="0"/>
                <a:cs typeface="Calibri" panose="020F0502020204030204" pitchFamily="34" charset="0"/>
              </a:rPr>
              <a:t>probabilités</a:t>
            </a:r>
            <a:endParaRPr lang="fr-FR" dirty="0">
              <a:latin typeface="Calibri" panose="020F0502020204030204" pitchFamily="34" charset="0"/>
              <a:ea typeface="Calibri" panose="020F0502020204030204" pitchFamily="34" charset="0"/>
              <a:cs typeface="Calibri" panose="020F0502020204030204" pitchFamily="34" charset="0"/>
            </a:endParaRPr>
          </a:p>
          <a:p>
            <a:r>
              <a:rPr lang="fr-FR" dirty="0">
                <a:latin typeface="Calibri" panose="020F0502020204030204" pitchFamily="34" charset="0"/>
                <a:ea typeface="Calibri" panose="020F0502020204030204" pitchFamily="34" charset="0"/>
                <a:cs typeface="Calibri" panose="020F0502020204030204" pitchFamily="34" charset="0"/>
              </a:rPr>
              <a:t>Elle peut être </a:t>
            </a:r>
            <a:r>
              <a:rPr lang="fr-FR" b="1" dirty="0">
                <a:latin typeface="Calibri" panose="020F0502020204030204" pitchFamily="34" charset="0"/>
                <a:ea typeface="Calibri" panose="020F0502020204030204" pitchFamily="34" charset="0"/>
                <a:cs typeface="Calibri" panose="020F0502020204030204" pitchFamily="34" charset="0"/>
              </a:rPr>
              <a:t>utile</a:t>
            </a:r>
            <a:r>
              <a:rPr lang="fr-FR" dirty="0">
                <a:latin typeface="Calibri" panose="020F0502020204030204" pitchFamily="34" charset="0"/>
                <a:ea typeface="Calibri" panose="020F0502020204030204" pitchFamily="34" charset="0"/>
                <a:cs typeface="Calibri" panose="020F0502020204030204" pitchFamily="34" charset="0"/>
              </a:rPr>
              <a:t>, mais aussi </a:t>
            </a:r>
            <a:r>
              <a:rPr lang="fr-FR" b="1" dirty="0">
                <a:latin typeface="Calibri" panose="020F0502020204030204" pitchFamily="34" charset="0"/>
                <a:ea typeface="Calibri" panose="020F0502020204030204" pitchFamily="34" charset="0"/>
                <a:cs typeface="Calibri" panose="020F0502020204030204" pitchFamily="34" charset="0"/>
              </a:rPr>
              <a:t>se tromper</a:t>
            </a:r>
            <a:endParaRPr lang="fr-FR" dirty="0">
              <a:latin typeface="Calibri" panose="020F0502020204030204" pitchFamily="34" charset="0"/>
              <a:ea typeface="Calibri" panose="020F0502020204030204" pitchFamily="34" charset="0"/>
              <a:cs typeface="Calibri" panose="020F0502020204030204" pitchFamily="34" charset="0"/>
            </a:endParaRPr>
          </a:p>
          <a:p>
            <a:pPr lvl="0"/>
            <a:endParaRPr lang="fr-FR" dirty="0">
              <a:latin typeface="Calibri" panose="020F0502020204030204" pitchFamily="34" charset="0"/>
              <a:ea typeface="Calibri" panose="020F0502020204030204" pitchFamily="34" charset="0"/>
              <a:cs typeface="Calibri" panose="020F0502020204030204" pitchFamily="34" charset="0"/>
            </a:endParaRPr>
          </a:p>
          <a:p>
            <a:endParaRPr lang="fr-FR" dirty="0">
              <a:latin typeface="Calibri" panose="020F0502020204030204" pitchFamily="34" charset="0"/>
              <a:ea typeface="Calibri" panose="020F0502020204030204" pitchFamily="34" charset="0"/>
              <a:cs typeface="Calibri" panose="020F0502020204030204" pitchFamily="34" charset="0"/>
            </a:endParaRPr>
          </a:p>
        </p:txBody>
      </p:sp>
      <p:sp>
        <p:nvSpPr>
          <p:cNvPr id="4" name="ZoneTexte 3">
            <a:extLst>
              <a:ext uri="{FF2B5EF4-FFF2-40B4-BE49-F238E27FC236}">
                <a16:creationId xmlns:a16="http://schemas.microsoft.com/office/drawing/2014/main" id="{2D64DA84-BA58-F43B-48E4-0C5A13B0896C}"/>
              </a:ext>
            </a:extLst>
          </p:cNvPr>
          <p:cNvSpPr txBox="1"/>
          <p:nvPr/>
        </p:nvSpPr>
        <p:spPr>
          <a:xfrm>
            <a:off x="271272" y="5602069"/>
            <a:ext cx="10328656" cy="646331"/>
          </a:xfrm>
          <a:prstGeom prst="rect">
            <a:avLst/>
          </a:prstGeom>
          <a:noFill/>
        </p:spPr>
        <p:txBody>
          <a:bodyPr wrap="square" rtlCol="0">
            <a:spAutoFit/>
          </a:bodyPr>
          <a:lstStyle/>
          <a:p>
            <a:r>
              <a:rPr lang="fr-FR">
                <a:latin typeface="Calibri" panose="020F0502020204030204" pitchFamily="34" charset="0"/>
                <a:ea typeface="Calibri" panose="020F0502020204030204" pitchFamily="34" charset="0"/>
                <a:cs typeface="Calibri" panose="020F0502020204030204" pitchFamily="34" charset="0"/>
              </a:rPr>
              <a:t>Une IA </a:t>
            </a:r>
            <a:r>
              <a:rPr lang="fr-FR" b="1">
                <a:latin typeface="Calibri" panose="020F0502020204030204" pitchFamily="34" charset="0"/>
                <a:ea typeface="Calibri" panose="020F0502020204030204" pitchFamily="34" charset="0"/>
                <a:cs typeface="Calibri" panose="020F0502020204030204" pitchFamily="34" charset="0"/>
              </a:rPr>
              <a:t>ne comprend pas le monde comme un humain</a:t>
            </a:r>
            <a:r>
              <a:rPr lang="fr-FR">
                <a:latin typeface="Calibri" panose="020F0502020204030204" pitchFamily="34" charset="0"/>
                <a:ea typeface="Calibri" panose="020F0502020204030204" pitchFamily="34" charset="0"/>
                <a:cs typeface="Calibri" panose="020F0502020204030204" pitchFamily="34" charset="0"/>
              </a:rPr>
              <a:t>.</a:t>
            </a:r>
            <a:br>
              <a:rPr lang="fr-FR">
                <a:latin typeface="Calibri" panose="020F0502020204030204" pitchFamily="34" charset="0"/>
                <a:ea typeface="Calibri" panose="020F0502020204030204" pitchFamily="34" charset="0"/>
                <a:cs typeface="Calibri" panose="020F0502020204030204" pitchFamily="34" charset="0"/>
              </a:rPr>
            </a:br>
            <a:r>
              <a:rPr lang="fr-FR">
                <a:latin typeface="Calibri" panose="020F0502020204030204" pitchFamily="34" charset="0"/>
                <a:ea typeface="Calibri" panose="020F0502020204030204" pitchFamily="34" charset="0"/>
                <a:cs typeface="Calibri" panose="020F0502020204030204" pitchFamily="34" charset="0"/>
              </a:rPr>
              <a:t>Elle traite des données, repère des régularités, calcule des probabilités, puis produit une réponse.</a:t>
            </a:r>
          </a:p>
        </p:txBody>
      </p:sp>
    </p:spTree>
    <p:extLst>
      <p:ext uri="{BB962C8B-B14F-4D97-AF65-F5344CB8AC3E}">
        <p14:creationId xmlns:p14="http://schemas.microsoft.com/office/powerpoint/2010/main" val="9310088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8E3DACA-4684-492C-BA40-E46273EEF080}"/>
              </a:ext>
            </a:extLst>
          </p:cNvPr>
          <p:cNvSpPr>
            <a:spLocks noGrp="1"/>
          </p:cNvSpPr>
          <p:nvPr>
            <p:ph type="title"/>
          </p:nvPr>
        </p:nvSpPr>
        <p:spPr/>
        <p:txBody>
          <a:bodyPr anchor="ctr"/>
          <a:lstStyle/>
          <a:p>
            <a:pPr algn="ctr"/>
            <a:r>
              <a:rPr lang="fr-FR" b="1" dirty="0">
                <a:latin typeface="Calibri" panose="020F0502020204030204" pitchFamily="34" charset="0"/>
                <a:ea typeface="Calibri" panose="020F0502020204030204" pitchFamily="34" charset="0"/>
                <a:cs typeface="Calibri" panose="020F0502020204030204" pitchFamily="34" charset="0"/>
              </a:rPr>
              <a:t>Programme classique ou IA ?</a:t>
            </a:r>
            <a:endParaRPr lang="fr-FR" dirty="0">
              <a:latin typeface="Calibri" panose="020F0502020204030204" pitchFamily="34" charset="0"/>
              <a:ea typeface="Calibri" panose="020F0502020204030204" pitchFamily="34" charset="0"/>
              <a:cs typeface="Calibri" panose="020F0502020204030204" pitchFamily="34" charset="0"/>
            </a:endParaRPr>
          </a:p>
        </p:txBody>
      </p:sp>
      <p:sp>
        <p:nvSpPr>
          <p:cNvPr id="3" name="Espace réservé du texte 2">
            <a:extLst>
              <a:ext uri="{FF2B5EF4-FFF2-40B4-BE49-F238E27FC236}">
                <a16:creationId xmlns:a16="http://schemas.microsoft.com/office/drawing/2014/main" id="{2A22DF74-3BCB-998B-2F1C-803EEEF4F51A}"/>
              </a:ext>
            </a:extLst>
          </p:cNvPr>
          <p:cNvSpPr>
            <a:spLocks noGrp="1"/>
          </p:cNvSpPr>
          <p:nvPr>
            <p:ph type="body" idx="1"/>
          </p:nvPr>
        </p:nvSpPr>
        <p:spPr>
          <a:xfrm>
            <a:off x="675745" y="1930400"/>
            <a:ext cx="4185623" cy="1244465"/>
          </a:xfrm>
        </p:spPr>
        <p:txBody>
          <a:bodyPr anchor="t"/>
          <a:lstStyle/>
          <a:p>
            <a:r>
              <a:rPr lang="fr-FR" sz="1800" b="1" dirty="0">
                <a:latin typeface="Calibri" panose="020F0502020204030204" pitchFamily="34" charset="0"/>
                <a:ea typeface="Calibri" panose="020F0502020204030204" pitchFamily="34" charset="0"/>
                <a:cs typeface="Calibri" panose="020F0502020204030204" pitchFamily="34" charset="0"/>
              </a:rPr>
              <a:t>Programme classique</a:t>
            </a:r>
            <a:r>
              <a:rPr lang="fr-FR" sz="1800" dirty="0">
                <a:latin typeface="Calibri" panose="020F0502020204030204" pitchFamily="34" charset="0"/>
                <a:ea typeface="Calibri" panose="020F0502020204030204" pitchFamily="34" charset="0"/>
                <a:cs typeface="Calibri" panose="020F0502020204030204" pitchFamily="34" charset="0"/>
              </a:rPr>
              <a:t> : suit des règles écrites à l’avance de façon précise.</a:t>
            </a:r>
          </a:p>
        </p:txBody>
      </p:sp>
      <p:sp>
        <p:nvSpPr>
          <p:cNvPr id="4" name="Espace réservé du contenu 3">
            <a:extLst>
              <a:ext uri="{FF2B5EF4-FFF2-40B4-BE49-F238E27FC236}">
                <a16:creationId xmlns:a16="http://schemas.microsoft.com/office/drawing/2014/main" id="{42D30BB5-BEDE-2653-A7D8-A5C08A4C98E2}"/>
              </a:ext>
            </a:extLst>
          </p:cNvPr>
          <p:cNvSpPr>
            <a:spLocks noGrp="1"/>
          </p:cNvSpPr>
          <p:nvPr>
            <p:ph sz="half" idx="2"/>
          </p:nvPr>
        </p:nvSpPr>
        <p:spPr>
          <a:xfrm>
            <a:off x="675745" y="3174866"/>
            <a:ext cx="4185623" cy="3073534"/>
          </a:xfrm>
        </p:spPr>
        <p:txBody>
          <a:bodyPr>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Programme classique:</a:t>
            </a:r>
            <a:endParaRPr lang="fr-FR"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fr-FR" dirty="0">
              <a:latin typeface="Calibri" panose="020F0502020204030204" pitchFamily="34" charset="0"/>
              <a:ea typeface="Calibri" panose="020F0502020204030204" pitchFamily="34" charset="0"/>
              <a:cs typeface="Calibri" panose="020F0502020204030204" pitchFamily="34" charset="0"/>
            </a:endParaRPr>
          </a:p>
          <a:p>
            <a:r>
              <a:rPr lang="fr-FR" dirty="0">
                <a:latin typeface="Calibri" panose="020F0502020204030204" pitchFamily="34" charset="0"/>
                <a:ea typeface="Calibri" panose="020F0502020204030204" pitchFamily="34" charset="0"/>
                <a:cs typeface="Calibri" panose="020F0502020204030204" pitchFamily="34" charset="0"/>
              </a:rPr>
              <a:t>“Si mot de passe correct, alors ouvrir la session.”</a:t>
            </a:r>
          </a:p>
          <a:p>
            <a:r>
              <a:rPr lang="fr-FR" dirty="0">
                <a:latin typeface="Calibri" panose="020F0502020204030204" pitchFamily="34" charset="0"/>
                <a:ea typeface="Calibri" panose="020F0502020204030204" pitchFamily="34" charset="0"/>
                <a:cs typeface="Calibri" panose="020F0502020204030204" pitchFamily="34" charset="0"/>
              </a:rPr>
              <a:t>Tout est prévu à l’avance.</a:t>
            </a:r>
          </a:p>
        </p:txBody>
      </p:sp>
      <p:sp>
        <p:nvSpPr>
          <p:cNvPr id="5" name="Espace réservé du texte 4">
            <a:extLst>
              <a:ext uri="{FF2B5EF4-FFF2-40B4-BE49-F238E27FC236}">
                <a16:creationId xmlns:a16="http://schemas.microsoft.com/office/drawing/2014/main" id="{C0C36467-CBF8-694F-8B3D-FD54B145108B}"/>
              </a:ext>
            </a:extLst>
          </p:cNvPr>
          <p:cNvSpPr>
            <a:spLocks noGrp="1"/>
          </p:cNvSpPr>
          <p:nvPr>
            <p:ph type="body" sz="quarter" idx="3"/>
          </p:nvPr>
        </p:nvSpPr>
        <p:spPr>
          <a:xfrm>
            <a:off x="5088383" y="1930400"/>
            <a:ext cx="4185618" cy="1244465"/>
          </a:xfrm>
        </p:spPr>
        <p:txBody>
          <a:bodyPr anchor="t"/>
          <a:lstStyle/>
          <a:p>
            <a:r>
              <a:rPr lang="fr-FR" sz="1800" b="1" dirty="0">
                <a:latin typeface="Calibri" panose="020F0502020204030204" pitchFamily="34" charset="0"/>
                <a:ea typeface="Calibri" panose="020F0502020204030204" pitchFamily="34" charset="0"/>
                <a:cs typeface="Calibri" panose="020F0502020204030204" pitchFamily="34" charset="0"/>
              </a:rPr>
              <a:t>IA</a:t>
            </a:r>
            <a:r>
              <a:rPr lang="fr-FR" sz="1800" dirty="0">
                <a:latin typeface="Calibri" panose="020F0502020204030204" pitchFamily="34" charset="0"/>
                <a:ea typeface="Calibri" panose="020F0502020204030204" pitchFamily="34" charset="0"/>
                <a:cs typeface="Calibri" panose="020F0502020204030204" pitchFamily="34" charset="0"/>
              </a:rPr>
              <a:t> : apprend à partir d’exemples ou produit une réponse à partir d’un modèle construit sur des données.</a:t>
            </a:r>
          </a:p>
        </p:txBody>
      </p:sp>
      <p:sp>
        <p:nvSpPr>
          <p:cNvPr id="6" name="Espace réservé du contenu 5">
            <a:extLst>
              <a:ext uri="{FF2B5EF4-FFF2-40B4-BE49-F238E27FC236}">
                <a16:creationId xmlns:a16="http://schemas.microsoft.com/office/drawing/2014/main" id="{D747451A-B1D8-ED71-6AE4-4EC5B8C2C9D9}"/>
              </a:ext>
            </a:extLst>
          </p:cNvPr>
          <p:cNvSpPr>
            <a:spLocks noGrp="1"/>
          </p:cNvSpPr>
          <p:nvPr>
            <p:ph sz="quarter" idx="4"/>
          </p:nvPr>
        </p:nvSpPr>
        <p:spPr>
          <a:xfrm>
            <a:off x="5088384" y="3174866"/>
            <a:ext cx="4185617" cy="3073534"/>
          </a:xfrm>
        </p:spPr>
        <p:txBody>
          <a:bodyPr>
            <a:norm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IA:</a:t>
            </a:r>
            <a:endParaRPr lang="fr-FR"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fr-FR" dirty="0">
              <a:latin typeface="Calibri" panose="020F0502020204030204" pitchFamily="34" charset="0"/>
              <a:ea typeface="Calibri" panose="020F0502020204030204" pitchFamily="34" charset="0"/>
              <a:cs typeface="Calibri" panose="020F0502020204030204" pitchFamily="34" charset="0"/>
            </a:endParaRPr>
          </a:p>
          <a:p>
            <a:r>
              <a:rPr lang="fr-FR" dirty="0">
                <a:latin typeface="Calibri" panose="020F0502020204030204" pitchFamily="34" charset="0"/>
                <a:ea typeface="Calibri" panose="020F0502020204030204" pitchFamily="34" charset="0"/>
                <a:cs typeface="Calibri" panose="020F0502020204030204" pitchFamily="34" charset="0"/>
              </a:rPr>
              <a:t>“Reconnaître si cette image contient un chat.”</a:t>
            </a:r>
          </a:p>
          <a:p>
            <a:r>
              <a:rPr lang="fr-FR" dirty="0">
                <a:latin typeface="Calibri" panose="020F0502020204030204" pitchFamily="34" charset="0"/>
                <a:ea typeface="Calibri" panose="020F0502020204030204" pitchFamily="34" charset="0"/>
                <a:cs typeface="Calibri" panose="020F0502020204030204" pitchFamily="34" charset="0"/>
              </a:rPr>
              <a:t>Ici, on ne donne pas une liste exhaustive de toutes les formes possibles d’un chat.</a:t>
            </a:r>
            <a:br>
              <a:rPr lang="fr-FR" dirty="0">
                <a:latin typeface="Calibri" panose="020F0502020204030204" pitchFamily="34" charset="0"/>
                <a:ea typeface="Calibri" panose="020F0502020204030204" pitchFamily="34" charset="0"/>
                <a:cs typeface="Calibri" panose="020F0502020204030204" pitchFamily="34" charset="0"/>
              </a:rPr>
            </a:br>
            <a:r>
              <a:rPr lang="fr-FR" dirty="0">
                <a:latin typeface="Calibri" panose="020F0502020204030204" pitchFamily="34" charset="0"/>
                <a:ea typeface="Calibri" panose="020F0502020204030204" pitchFamily="34" charset="0"/>
                <a:cs typeface="Calibri" panose="020F0502020204030204" pitchFamily="34" charset="0"/>
              </a:rPr>
              <a:t>On montre énormément d’exemples, et le système apprend des régularités.</a:t>
            </a:r>
          </a:p>
        </p:txBody>
      </p:sp>
    </p:spTree>
    <p:extLst>
      <p:ext uri="{BB962C8B-B14F-4D97-AF65-F5344CB8AC3E}">
        <p14:creationId xmlns:p14="http://schemas.microsoft.com/office/powerpoint/2010/main" val="16645378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98522BE-BCB2-B154-7E04-6CD5EDB14A04}"/>
              </a:ext>
            </a:extLst>
          </p:cNvPr>
          <p:cNvSpPr>
            <a:spLocks noGrp="1"/>
          </p:cNvSpPr>
          <p:nvPr>
            <p:ph type="title"/>
          </p:nvPr>
        </p:nvSpPr>
        <p:spPr/>
        <p:txBody>
          <a:bodyPr anchor="ctr"/>
          <a:lstStyle/>
          <a:p>
            <a:pPr algn="ctr"/>
            <a:r>
              <a:rPr lang="fr-FR" b="1" dirty="0">
                <a:latin typeface="Calibri" panose="020F0502020204030204" pitchFamily="34" charset="0"/>
                <a:ea typeface="Calibri" panose="020F0502020204030204" pitchFamily="34" charset="0"/>
                <a:cs typeface="Calibri" panose="020F0502020204030204" pitchFamily="34" charset="0"/>
              </a:rPr>
              <a:t>Comment fonctionne une IA ?</a:t>
            </a:r>
            <a:endParaRPr lang="fr-FR" dirty="0">
              <a:latin typeface="Calibri" panose="020F0502020204030204" pitchFamily="34" charset="0"/>
              <a:ea typeface="Calibri" panose="020F0502020204030204" pitchFamily="34" charset="0"/>
              <a:cs typeface="Calibri" panose="020F0502020204030204" pitchFamily="34" charset="0"/>
            </a:endParaRPr>
          </a:p>
        </p:txBody>
      </p:sp>
      <p:sp>
        <p:nvSpPr>
          <p:cNvPr id="4" name="Espace réservé du contenu 3">
            <a:extLst>
              <a:ext uri="{FF2B5EF4-FFF2-40B4-BE49-F238E27FC236}">
                <a16:creationId xmlns:a16="http://schemas.microsoft.com/office/drawing/2014/main" id="{FD8C5D86-50E4-3089-B27A-72D088F41415}"/>
              </a:ext>
            </a:extLst>
          </p:cNvPr>
          <p:cNvSpPr>
            <a:spLocks noGrp="1"/>
          </p:cNvSpPr>
          <p:nvPr>
            <p:ph sz="half" idx="2"/>
          </p:nvPr>
        </p:nvSpPr>
        <p:spPr>
          <a:xfrm>
            <a:off x="675745" y="4067838"/>
            <a:ext cx="4185623" cy="1655629"/>
          </a:xfrm>
        </p:spPr>
        <p:txBody>
          <a:bodyPr/>
          <a:lstStyle/>
          <a:p>
            <a:r>
              <a:rPr lang="fr-FR" b="1" dirty="0">
                <a:latin typeface="Calibri" panose="020F0502020204030204" pitchFamily="34" charset="0"/>
                <a:ea typeface="Calibri" panose="020F0502020204030204" pitchFamily="34" charset="0"/>
                <a:cs typeface="Calibri" panose="020F0502020204030204" pitchFamily="34" charset="0"/>
              </a:rPr>
              <a:t>3. On lui donne une nouvelle demande</a:t>
            </a:r>
            <a:br>
              <a:rPr lang="fr-FR" dirty="0">
                <a:latin typeface="Calibri" panose="020F0502020204030204" pitchFamily="34" charset="0"/>
                <a:ea typeface="Calibri" panose="020F0502020204030204" pitchFamily="34" charset="0"/>
                <a:cs typeface="Calibri" panose="020F0502020204030204" pitchFamily="34" charset="0"/>
              </a:rPr>
            </a:br>
            <a:r>
              <a:rPr lang="fr-FR" dirty="0">
                <a:latin typeface="Calibri" panose="020F0502020204030204" pitchFamily="34" charset="0"/>
                <a:ea typeface="Calibri" panose="020F0502020204030204" pitchFamily="34" charset="0"/>
                <a:cs typeface="Calibri" panose="020F0502020204030204" pitchFamily="34" charset="0"/>
              </a:rPr>
              <a:t>Image à reconnaître, texte à compléter, phrase à traduire...</a:t>
            </a:r>
          </a:p>
          <a:p>
            <a:pPr marL="0" indent="0">
              <a:buNone/>
            </a:pPr>
            <a:endParaRPr lang="fr-FR" dirty="0">
              <a:latin typeface="Calibri" panose="020F0502020204030204" pitchFamily="34" charset="0"/>
              <a:ea typeface="Calibri" panose="020F0502020204030204" pitchFamily="34" charset="0"/>
              <a:cs typeface="Calibri" panose="020F0502020204030204" pitchFamily="34" charset="0"/>
            </a:endParaRPr>
          </a:p>
        </p:txBody>
      </p:sp>
      <p:sp>
        <p:nvSpPr>
          <p:cNvPr id="6" name="Espace réservé du contenu 5">
            <a:extLst>
              <a:ext uri="{FF2B5EF4-FFF2-40B4-BE49-F238E27FC236}">
                <a16:creationId xmlns:a16="http://schemas.microsoft.com/office/drawing/2014/main" id="{3F95D399-81E5-C7AF-6248-E15D0FEA2FA7}"/>
              </a:ext>
            </a:extLst>
          </p:cNvPr>
          <p:cNvSpPr>
            <a:spLocks noGrp="1"/>
          </p:cNvSpPr>
          <p:nvPr>
            <p:ph sz="quarter" idx="4"/>
          </p:nvPr>
        </p:nvSpPr>
        <p:spPr>
          <a:xfrm>
            <a:off x="5088383" y="4067838"/>
            <a:ext cx="4185617" cy="1655629"/>
          </a:xfrm>
        </p:spPr>
        <p:txBody>
          <a:bodyPr/>
          <a:lstStyle/>
          <a:p>
            <a:r>
              <a:rPr lang="fr-FR" b="1" dirty="0">
                <a:latin typeface="Calibri" panose="020F0502020204030204" pitchFamily="34" charset="0"/>
                <a:ea typeface="Calibri" panose="020F0502020204030204" pitchFamily="34" charset="0"/>
                <a:cs typeface="Calibri" panose="020F0502020204030204" pitchFamily="34" charset="0"/>
              </a:rPr>
              <a:t>4. Elle produit une réponse probable</a:t>
            </a:r>
            <a:br>
              <a:rPr lang="fr-FR" dirty="0">
                <a:latin typeface="Calibri" panose="020F0502020204030204" pitchFamily="34" charset="0"/>
                <a:ea typeface="Calibri" panose="020F0502020204030204" pitchFamily="34" charset="0"/>
                <a:cs typeface="Calibri" panose="020F0502020204030204" pitchFamily="34" charset="0"/>
              </a:rPr>
            </a:br>
            <a:r>
              <a:rPr lang="fr-FR" dirty="0">
                <a:latin typeface="Calibri" panose="020F0502020204030204" pitchFamily="34" charset="0"/>
                <a:ea typeface="Calibri" panose="020F0502020204030204" pitchFamily="34" charset="0"/>
                <a:cs typeface="Calibri" panose="020F0502020204030204" pitchFamily="34" charset="0"/>
              </a:rPr>
              <a:t>Pas une vérité absolue. Une réponse calculée comme plausible.</a:t>
            </a:r>
          </a:p>
          <a:p>
            <a:pPr marL="0" indent="0">
              <a:buNone/>
            </a:pPr>
            <a:endParaRPr lang="fr-FR" dirty="0">
              <a:latin typeface="Calibri" panose="020F0502020204030204" pitchFamily="34" charset="0"/>
              <a:ea typeface="Calibri" panose="020F0502020204030204" pitchFamily="34" charset="0"/>
              <a:cs typeface="Calibri" panose="020F0502020204030204" pitchFamily="34" charset="0"/>
            </a:endParaRPr>
          </a:p>
        </p:txBody>
      </p:sp>
      <p:sp>
        <p:nvSpPr>
          <p:cNvPr id="7" name="Espace réservé du contenu 3">
            <a:extLst>
              <a:ext uri="{FF2B5EF4-FFF2-40B4-BE49-F238E27FC236}">
                <a16:creationId xmlns:a16="http://schemas.microsoft.com/office/drawing/2014/main" id="{1C733FA0-118D-CA06-D198-97EFFE05C541}"/>
              </a:ext>
            </a:extLst>
          </p:cNvPr>
          <p:cNvSpPr txBox="1">
            <a:spLocks/>
          </p:cNvSpPr>
          <p:nvPr/>
        </p:nvSpPr>
        <p:spPr>
          <a:xfrm>
            <a:off x="675745" y="2330252"/>
            <a:ext cx="4185623" cy="132080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fr-FR" b="1" dirty="0">
                <a:latin typeface="Calibri" panose="020F0502020204030204" pitchFamily="34" charset="0"/>
                <a:ea typeface="Calibri" panose="020F0502020204030204" pitchFamily="34" charset="0"/>
                <a:cs typeface="Calibri" panose="020F0502020204030204" pitchFamily="34" charset="0"/>
              </a:rPr>
              <a:t>1. On collecte des données</a:t>
            </a:r>
            <a:br>
              <a:rPr lang="fr-FR" dirty="0">
                <a:latin typeface="Calibri" panose="020F0502020204030204" pitchFamily="34" charset="0"/>
                <a:ea typeface="Calibri" panose="020F0502020204030204" pitchFamily="34" charset="0"/>
                <a:cs typeface="Calibri" panose="020F0502020204030204" pitchFamily="34" charset="0"/>
              </a:rPr>
            </a:br>
            <a:r>
              <a:rPr lang="fr-FR" dirty="0">
                <a:latin typeface="Calibri" panose="020F0502020204030204" pitchFamily="34" charset="0"/>
                <a:ea typeface="Calibri" panose="020F0502020204030204" pitchFamily="34" charset="0"/>
                <a:cs typeface="Calibri" panose="020F0502020204030204" pitchFamily="34" charset="0"/>
              </a:rPr>
              <a:t>Exemples, comportements, textes, images, sons...</a:t>
            </a:r>
          </a:p>
        </p:txBody>
      </p:sp>
      <p:sp>
        <p:nvSpPr>
          <p:cNvPr id="8" name="Espace réservé du contenu 5">
            <a:extLst>
              <a:ext uri="{FF2B5EF4-FFF2-40B4-BE49-F238E27FC236}">
                <a16:creationId xmlns:a16="http://schemas.microsoft.com/office/drawing/2014/main" id="{605E795E-C41C-9DCD-BA51-BF7D59FEB9F8}"/>
              </a:ext>
            </a:extLst>
          </p:cNvPr>
          <p:cNvSpPr txBox="1">
            <a:spLocks/>
          </p:cNvSpPr>
          <p:nvPr/>
        </p:nvSpPr>
        <p:spPr>
          <a:xfrm>
            <a:off x="5088384" y="2330252"/>
            <a:ext cx="4185617" cy="1320801"/>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fr-FR" b="1" dirty="0">
                <a:latin typeface="Calibri" panose="020F0502020204030204" pitchFamily="34" charset="0"/>
                <a:ea typeface="Calibri" panose="020F0502020204030204" pitchFamily="34" charset="0"/>
                <a:cs typeface="Calibri" panose="020F0502020204030204" pitchFamily="34" charset="0"/>
              </a:rPr>
              <a:t>2. On entraîne un modèle</a:t>
            </a:r>
            <a:br>
              <a:rPr lang="fr-FR" dirty="0">
                <a:latin typeface="Calibri" panose="020F0502020204030204" pitchFamily="34" charset="0"/>
                <a:ea typeface="Calibri" panose="020F0502020204030204" pitchFamily="34" charset="0"/>
                <a:cs typeface="Calibri" panose="020F0502020204030204" pitchFamily="34" charset="0"/>
              </a:rPr>
            </a:br>
            <a:r>
              <a:rPr lang="fr-FR" dirty="0">
                <a:latin typeface="Calibri" panose="020F0502020204030204" pitchFamily="34" charset="0"/>
                <a:ea typeface="Calibri" panose="020F0502020204030204" pitchFamily="34" charset="0"/>
                <a:cs typeface="Calibri" panose="020F0502020204030204" pitchFamily="34" charset="0"/>
              </a:rPr>
              <a:t>La machine repère des régularités.</a:t>
            </a:r>
          </a:p>
        </p:txBody>
      </p:sp>
      <p:sp>
        <p:nvSpPr>
          <p:cNvPr id="9" name="ZoneTexte 8">
            <a:extLst>
              <a:ext uri="{FF2B5EF4-FFF2-40B4-BE49-F238E27FC236}">
                <a16:creationId xmlns:a16="http://schemas.microsoft.com/office/drawing/2014/main" id="{0998B746-AE93-DF39-F488-0B74C2529A47}"/>
              </a:ext>
            </a:extLst>
          </p:cNvPr>
          <p:cNvSpPr txBox="1"/>
          <p:nvPr/>
        </p:nvSpPr>
        <p:spPr>
          <a:xfrm>
            <a:off x="676540" y="5955586"/>
            <a:ext cx="8598256" cy="369332"/>
          </a:xfrm>
          <a:prstGeom prst="rect">
            <a:avLst/>
          </a:prstGeom>
          <a:noFill/>
        </p:spPr>
        <p:txBody>
          <a:bodyPr wrap="square" rtlCol="0" anchor="ctr">
            <a:spAutoFit/>
          </a:bodyPr>
          <a:lstStyle/>
          <a:p>
            <a:pPr algn="ctr"/>
            <a:r>
              <a:rPr lang="fr-FR" b="1" dirty="0">
                <a:latin typeface="Calibri" panose="020F0502020204030204" pitchFamily="34" charset="0"/>
                <a:ea typeface="Calibri" panose="020F0502020204030204" pitchFamily="34" charset="0"/>
                <a:cs typeface="Calibri" panose="020F0502020204030204" pitchFamily="34" charset="0"/>
              </a:rPr>
              <a:t>Données → Entraînement → Modèle → Nouvelle demande → Réponse</a:t>
            </a:r>
            <a:endParaRPr lang="fr-FR"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265301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A06A9-AC96-236D-6D91-A478C5DC5D5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3C4EA53-A483-67E0-F070-0D3B30464FE7}"/>
              </a:ext>
            </a:extLst>
          </p:cNvPr>
          <p:cNvSpPr>
            <a:spLocks noGrp="1"/>
          </p:cNvSpPr>
          <p:nvPr>
            <p:ph type="title"/>
          </p:nvPr>
        </p:nvSpPr>
        <p:spPr>
          <a:xfrm>
            <a:off x="677334" y="609600"/>
            <a:ext cx="8596668" cy="844296"/>
          </a:xfrm>
        </p:spPr>
        <p:txBody>
          <a:bodyPr anchor="ctr"/>
          <a:lstStyle/>
          <a:p>
            <a:pPr algn="ctr"/>
            <a:r>
              <a:rPr lang="fr-FR" b="1" dirty="0">
                <a:latin typeface="Calibri" panose="020F0502020204030204" pitchFamily="34" charset="0"/>
                <a:ea typeface="Calibri" panose="020F0502020204030204" pitchFamily="34" charset="0"/>
                <a:cs typeface="Calibri" panose="020F0502020204030204" pitchFamily="34" charset="0"/>
              </a:rPr>
              <a:t>Comment fonctionne une IA ?</a:t>
            </a:r>
            <a:endParaRPr lang="fr-FR" dirty="0">
              <a:latin typeface="Calibri" panose="020F0502020204030204" pitchFamily="34" charset="0"/>
              <a:ea typeface="Calibri" panose="020F0502020204030204" pitchFamily="34" charset="0"/>
              <a:cs typeface="Calibri" panose="020F0502020204030204" pitchFamily="34" charset="0"/>
            </a:endParaRPr>
          </a:p>
        </p:txBody>
      </p:sp>
      <p:sp>
        <p:nvSpPr>
          <p:cNvPr id="7" name="Espace réservé du contenu 3">
            <a:extLst>
              <a:ext uri="{FF2B5EF4-FFF2-40B4-BE49-F238E27FC236}">
                <a16:creationId xmlns:a16="http://schemas.microsoft.com/office/drawing/2014/main" id="{DE0B1A2E-C3EB-901A-42D9-CEF6C20AEF9A}"/>
              </a:ext>
            </a:extLst>
          </p:cNvPr>
          <p:cNvSpPr txBox="1">
            <a:spLocks/>
          </p:cNvSpPr>
          <p:nvPr/>
        </p:nvSpPr>
        <p:spPr>
          <a:xfrm>
            <a:off x="675745" y="1686016"/>
            <a:ext cx="4185623" cy="1965038"/>
          </a:xfrm>
          <a:prstGeom prst="rect">
            <a:avLst/>
          </a:prstGeom>
        </p:spPr>
        <p:txBody>
          <a:bodyPr vert="horz" lIns="91440" tIns="45720" rIns="91440" bIns="45720" rtlCol="0">
            <a:normAutofit fontScale="62500" lnSpcReduction="2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Données d’entraînement</a:t>
            </a:r>
            <a:endParaRPr lang="fr-FR"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fr-FR" dirty="0">
                <a:latin typeface="Calibri" panose="020F0502020204030204" pitchFamily="34" charset="0"/>
                <a:ea typeface="Calibri" panose="020F0502020204030204" pitchFamily="34" charset="0"/>
                <a:cs typeface="Calibri" panose="020F0502020204030204" pitchFamily="34" charset="0"/>
              </a:rPr>
              <a:t>Pour fonctionner, une IA a besoin de beaucoup de données :</a:t>
            </a:r>
          </a:p>
          <a:p>
            <a:pPr lvl="0"/>
            <a:r>
              <a:rPr lang="fr-FR" dirty="0">
                <a:latin typeface="Calibri" panose="020F0502020204030204" pitchFamily="34" charset="0"/>
                <a:ea typeface="Calibri" panose="020F0502020204030204" pitchFamily="34" charset="0"/>
                <a:cs typeface="Calibri" panose="020F0502020204030204" pitchFamily="34" charset="0"/>
              </a:rPr>
              <a:t>Textes</a:t>
            </a:r>
          </a:p>
          <a:p>
            <a:pPr lvl="0"/>
            <a:r>
              <a:rPr lang="fr-FR" dirty="0">
                <a:latin typeface="Calibri" panose="020F0502020204030204" pitchFamily="34" charset="0"/>
                <a:ea typeface="Calibri" panose="020F0502020204030204" pitchFamily="34" charset="0"/>
                <a:cs typeface="Calibri" panose="020F0502020204030204" pitchFamily="34" charset="0"/>
              </a:rPr>
              <a:t>Images</a:t>
            </a:r>
          </a:p>
          <a:p>
            <a:pPr lvl="0"/>
            <a:r>
              <a:rPr lang="fr-FR" dirty="0">
                <a:latin typeface="Calibri" panose="020F0502020204030204" pitchFamily="34" charset="0"/>
                <a:ea typeface="Calibri" panose="020F0502020204030204" pitchFamily="34" charset="0"/>
                <a:cs typeface="Calibri" panose="020F0502020204030204" pitchFamily="34" charset="0"/>
              </a:rPr>
              <a:t>Sons</a:t>
            </a:r>
          </a:p>
          <a:p>
            <a:pPr lvl="0"/>
            <a:r>
              <a:rPr lang="fr-FR" dirty="0">
                <a:latin typeface="Calibri" panose="020F0502020204030204" pitchFamily="34" charset="0"/>
                <a:ea typeface="Calibri" panose="020F0502020204030204" pitchFamily="34" charset="0"/>
                <a:cs typeface="Calibri" panose="020F0502020204030204" pitchFamily="34" charset="0"/>
              </a:rPr>
              <a:t>Comportements</a:t>
            </a:r>
          </a:p>
          <a:p>
            <a:pPr lvl="0"/>
            <a:r>
              <a:rPr lang="fr-FR" dirty="0">
                <a:latin typeface="Calibri" panose="020F0502020204030204" pitchFamily="34" charset="0"/>
                <a:ea typeface="Calibri" panose="020F0502020204030204" pitchFamily="34" charset="0"/>
                <a:cs typeface="Calibri" panose="020F0502020204030204" pitchFamily="34" charset="0"/>
              </a:rPr>
              <a:t>Exemples annotés</a:t>
            </a:r>
          </a:p>
          <a:p>
            <a:endParaRPr lang="fr-FR" dirty="0">
              <a:latin typeface="Calibri" panose="020F0502020204030204" pitchFamily="34" charset="0"/>
              <a:ea typeface="Calibri" panose="020F0502020204030204" pitchFamily="34" charset="0"/>
              <a:cs typeface="Calibri" panose="020F0502020204030204" pitchFamily="34" charset="0"/>
            </a:endParaRPr>
          </a:p>
        </p:txBody>
      </p:sp>
      <p:sp>
        <p:nvSpPr>
          <p:cNvPr id="12" name="Espace réservé du contenu 3">
            <a:extLst>
              <a:ext uri="{FF2B5EF4-FFF2-40B4-BE49-F238E27FC236}">
                <a16:creationId xmlns:a16="http://schemas.microsoft.com/office/drawing/2014/main" id="{395B09DB-FA83-0513-A7F1-DC1FCDFB8326}"/>
              </a:ext>
            </a:extLst>
          </p:cNvPr>
          <p:cNvSpPr txBox="1">
            <a:spLocks/>
          </p:cNvSpPr>
          <p:nvPr/>
        </p:nvSpPr>
        <p:spPr>
          <a:xfrm>
            <a:off x="6096000" y="1686016"/>
            <a:ext cx="3065291" cy="4099824"/>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fr-FR" sz="1100" b="1" dirty="0">
                <a:latin typeface="Calibri" panose="020F0502020204030204" pitchFamily="34" charset="0"/>
                <a:ea typeface="Calibri" panose="020F0502020204030204" pitchFamily="34" charset="0"/>
                <a:cs typeface="Calibri" panose="020F0502020204030204" pitchFamily="34" charset="0"/>
              </a:rPr>
              <a:t>Résultat</a:t>
            </a:r>
            <a:endParaRPr lang="fr-FR" sz="11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fr-FR" sz="1100" dirty="0">
                <a:latin typeface="Calibri" panose="020F0502020204030204" pitchFamily="34" charset="0"/>
                <a:ea typeface="Calibri" panose="020F0502020204030204" pitchFamily="34" charset="0"/>
                <a:cs typeface="Calibri" panose="020F0502020204030204" pitchFamily="34" charset="0"/>
              </a:rPr>
              <a:t>Une IA peut :</a:t>
            </a:r>
          </a:p>
          <a:p>
            <a:pPr lvl="0"/>
            <a:r>
              <a:rPr lang="fr-FR" sz="1100" dirty="0">
                <a:latin typeface="Calibri" panose="020F0502020204030204" pitchFamily="34" charset="0"/>
                <a:ea typeface="Calibri" panose="020F0502020204030204" pitchFamily="34" charset="0"/>
                <a:cs typeface="Calibri" panose="020F0502020204030204" pitchFamily="34" charset="0"/>
              </a:rPr>
              <a:t>Classer</a:t>
            </a:r>
          </a:p>
          <a:p>
            <a:pPr lvl="0"/>
            <a:r>
              <a:rPr lang="fr-FR" sz="1100" dirty="0">
                <a:latin typeface="Calibri" panose="020F0502020204030204" pitchFamily="34" charset="0"/>
                <a:ea typeface="Calibri" panose="020F0502020204030204" pitchFamily="34" charset="0"/>
                <a:cs typeface="Calibri" panose="020F0502020204030204" pitchFamily="34" charset="0"/>
              </a:rPr>
              <a:t>Reconnaître</a:t>
            </a:r>
          </a:p>
          <a:p>
            <a:pPr lvl="0"/>
            <a:r>
              <a:rPr lang="fr-FR" sz="1100" dirty="0">
                <a:latin typeface="Calibri" panose="020F0502020204030204" pitchFamily="34" charset="0"/>
                <a:ea typeface="Calibri" panose="020F0502020204030204" pitchFamily="34" charset="0"/>
                <a:cs typeface="Calibri" panose="020F0502020204030204" pitchFamily="34" charset="0"/>
              </a:rPr>
              <a:t>Prédire</a:t>
            </a:r>
          </a:p>
          <a:p>
            <a:pPr lvl="0"/>
            <a:r>
              <a:rPr lang="fr-FR" sz="1100" dirty="0">
                <a:latin typeface="Calibri" panose="020F0502020204030204" pitchFamily="34" charset="0"/>
                <a:ea typeface="Calibri" panose="020F0502020204030204" pitchFamily="34" charset="0"/>
                <a:cs typeface="Calibri" panose="020F0502020204030204" pitchFamily="34" charset="0"/>
              </a:rPr>
              <a:t>Recommander</a:t>
            </a:r>
          </a:p>
          <a:p>
            <a:pPr lvl="0"/>
            <a:r>
              <a:rPr lang="fr-FR" sz="1100" dirty="0">
                <a:latin typeface="Calibri" panose="020F0502020204030204" pitchFamily="34" charset="0"/>
                <a:ea typeface="Calibri" panose="020F0502020204030204" pitchFamily="34" charset="0"/>
                <a:cs typeface="Calibri" panose="020F0502020204030204" pitchFamily="34" charset="0"/>
              </a:rPr>
              <a:t>Générer</a:t>
            </a:r>
          </a:p>
          <a:p>
            <a:pPr marL="0" lvl="0" indent="0">
              <a:buNone/>
            </a:pPr>
            <a:endParaRPr lang="fr-FR" sz="1100"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fr-FR" sz="1100" dirty="0">
                <a:latin typeface="Calibri" panose="020F0502020204030204" pitchFamily="34" charset="0"/>
                <a:ea typeface="Calibri" panose="020F0502020204030204" pitchFamily="34" charset="0"/>
                <a:cs typeface="Calibri" panose="020F0502020204030204" pitchFamily="34" charset="0"/>
              </a:rPr>
              <a:t>Une IA peut produire une réponse :</a:t>
            </a:r>
          </a:p>
          <a:p>
            <a:pPr lvl="0"/>
            <a:r>
              <a:rPr lang="fr-FR" sz="1100" dirty="0">
                <a:latin typeface="Calibri" panose="020F0502020204030204" pitchFamily="34" charset="0"/>
                <a:ea typeface="Calibri" panose="020F0502020204030204" pitchFamily="34" charset="0"/>
                <a:cs typeface="Calibri" panose="020F0502020204030204" pitchFamily="34" charset="0"/>
              </a:rPr>
              <a:t>Fluide</a:t>
            </a:r>
          </a:p>
          <a:p>
            <a:pPr lvl="0"/>
            <a:r>
              <a:rPr lang="fr-FR" sz="1100" dirty="0">
                <a:latin typeface="Calibri" panose="020F0502020204030204" pitchFamily="34" charset="0"/>
                <a:ea typeface="Calibri" panose="020F0502020204030204" pitchFamily="34" charset="0"/>
                <a:cs typeface="Calibri" panose="020F0502020204030204" pitchFamily="34" charset="0"/>
              </a:rPr>
              <a:t>Rapide</a:t>
            </a:r>
          </a:p>
          <a:p>
            <a:pPr lvl="0"/>
            <a:r>
              <a:rPr lang="fr-FR" sz="1100" dirty="0">
                <a:latin typeface="Calibri" panose="020F0502020204030204" pitchFamily="34" charset="0"/>
                <a:ea typeface="Calibri" panose="020F0502020204030204" pitchFamily="34" charset="0"/>
                <a:cs typeface="Calibri" panose="020F0502020204030204" pitchFamily="34" charset="0"/>
              </a:rPr>
              <a:t>Impressionnante</a:t>
            </a:r>
          </a:p>
          <a:p>
            <a:pPr lvl="0"/>
            <a:endParaRPr lang="fr-FR" sz="1100" dirty="0">
              <a:latin typeface="Calibri" panose="020F0502020204030204" pitchFamily="34" charset="0"/>
              <a:ea typeface="Calibri" panose="020F0502020204030204" pitchFamily="34" charset="0"/>
              <a:cs typeface="Calibri" panose="020F0502020204030204" pitchFamily="34" charset="0"/>
            </a:endParaRPr>
          </a:p>
        </p:txBody>
      </p:sp>
      <p:sp>
        <p:nvSpPr>
          <p:cNvPr id="13" name="Espace réservé du contenu 3">
            <a:extLst>
              <a:ext uri="{FF2B5EF4-FFF2-40B4-BE49-F238E27FC236}">
                <a16:creationId xmlns:a16="http://schemas.microsoft.com/office/drawing/2014/main" id="{31948F52-A031-9650-7734-9421B783FF6D}"/>
              </a:ext>
            </a:extLst>
          </p:cNvPr>
          <p:cNvSpPr txBox="1">
            <a:spLocks/>
          </p:cNvSpPr>
          <p:nvPr/>
        </p:nvSpPr>
        <p:spPr>
          <a:xfrm>
            <a:off x="675744" y="3820802"/>
            <a:ext cx="4185623" cy="1965038"/>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fr-FR" sz="1100" b="1" dirty="0">
                <a:latin typeface="Calibri" panose="020F0502020204030204" pitchFamily="34" charset="0"/>
                <a:ea typeface="Calibri" panose="020F0502020204030204" pitchFamily="34" charset="0"/>
                <a:cs typeface="Calibri" panose="020F0502020204030204" pitchFamily="34" charset="0"/>
              </a:rPr>
              <a:t>Limite</a:t>
            </a:r>
          </a:p>
          <a:p>
            <a:pPr lvl="0"/>
            <a:r>
              <a:rPr lang="fr-FR" sz="1100" dirty="0">
                <a:latin typeface="Calibri" panose="020F0502020204030204" pitchFamily="34" charset="0"/>
                <a:ea typeface="Calibri" panose="020F0502020204030204" pitchFamily="34" charset="0"/>
                <a:cs typeface="Calibri" panose="020F0502020204030204" pitchFamily="34" charset="0"/>
              </a:rPr>
              <a:t>Elle peut inventer</a:t>
            </a:r>
          </a:p>
          <a:p>
            <a:pPr lvl="0"/>
            <a:r>
              <a:rPr lang="fr-FR" sz="1100" dirty="0">
                <a:latin typeface="Calibri" panose="020F0502020204030204" pitchFamily="34" charset="0"/>
                <a:ea typeface="Calibri" panose="020F0502020204030204" pitchFamily="34" charset="0"/>
                <a:cs typeface="Calibri" panose="020F0502020204030204" pitchFamily="34" charset="0"/>
              </a:rPr>
              <a:t>Elle peut reproduire les biais des données</a:t>
            </a:r>
          </a:p>
          <a:p>
            <a:pPr lvl="0"/>
            <a:r>
              <a:rPr lang="fr-FR" sz="1100" dirty="0">
                <a:latin typeface="Calibri" panose="020F0502020204030204" pitchFamily="34" charset="0"/>
                <a:ea typeface="Calibri" panose="020F0502020204030204" pitchFamily="34" charset="0"/>
                <a:cs typeface="Calibri" panose="020F0502020204030204" pitchFamily="34" charset="0"/>
              </a:rPr>
              <a:t>Elle ne vérifie pas toujours la vérité</a:t>
            </a:r>
          </a:p>
          <a:p>
            <a:pPr lvl="0"/>
            <a:r>
              <a:rPr lang="fr-FR" sz="1100" dirty="0">
                <a:latin typeface="Calibri" panose="020F0502020204030204" pitchFamily="34" charset="0"/>
                <a:ea typeface="Calibri" panose="020F0502020204030204" pitchFamily="34" charset="0"/>
                <a:cs typeface="Calibri" panose="020F0502020204030204" pitchFamily="34" charset="0"/>
              </a:rPr>
              <a:t>Elle n’a pas de bon sens humain</a:t>
            </a:r>
          </a:p>
        </p:txBody>
      </p:sp>
    </p:spTree>
    <p:extLst>
      <p:ext uri="{BB962C8B-B14F-4D97-AF65-F5344CB8AC3E}">
        <p14:creationId xmlns:p14="http://schemas.microsoft.com/office/powerpoint/2010/main" val="5739993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2C2DD89-0264-DDC8-944E-8AAF1A7C13FF}"/>
              </a:ext>
            </a:extLst>
          </p:cNvPr>
          <p:cNvSpPr>
            <a:spLocks noGrp="1"/>
          </p:cNvSpPr>
          <p:nvPr>
            <p:ph type="title"/>
          </p:nvPr>
        </p:nvSpPr>
        <p:spPr>
          <a:xfrm>
            <a:off x="677334" y="609600"/>
            <a:ext cx="8596668" cy="1050614"/>
          </a:xfrm>
        </p:spPr>
        <p:txBody>
          <a:bodyPr anchor="ctr"/>
          <a:lstStyle/>
          <a:p>
            <a:pPr algn="ctr"/>
            <a:r>
              <a:rPr lang="fr-FR" dirty="0">
                <a:latin typeface="Calibri" panose="020F0502020204030204" pitchFamily="34" charset="0"/>
                <a:ea typeface="Calibri" panose="020F0502020204030204" pitchFamily="34" charset="0"/>
                <a:cs typeface="Calibri" panose="020F0502020204030204" pitchFamily="34" charset="0"/>
              </a:rPr>
              <a:t>Éviter les confusions</a:t>
            </a:r>
          </a:p>
        </p:txBody>
      </p:sp>
      <p:sp>
        <p:nvSpPr>
          <p:cNvPr id="4" name="Espace réservé du contenu 3">
            <a:extLst>
              <a:ext uri="{FF2B5EF4-FFF2-40B4-BE49-F238E27FC236}">
                <a16:creationId xmlns:a16="http://schemas.microsoft.com/office/drawing/2014/main" id="{EE30FDA2-F580-916F-7BD8-2CC176A7E625}"/>
              </a:ext>
            </a:extLst>
          </p:cNvPr>
          <p:cNvSpPr>
            <a:spLocks noGrp="1"/>
          </p:cNvSpPr>
          <p:nvPr>
            <p:ph sz="half" idx="2"/>
          </p:nvPr>
        </p:nvSpPr>
        <p:spPr>
          <a:xfrm>
            <a:off x="677334" y="1952893"/>
            <a:ext cx="4185623" cy="1788019"/>
          </a:xfrm>
        </p:spPr>
        <p:txBody>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Confusion 1 : IA = robot</a:t>
            </a:r>
            <a:endParaRPr lang="fr-FR" dirty="0">
              <a:latin typeface="Calibri" panose="020F0502020204030204" pitchFamily="34" charset="0"/>
              <a:ea typeface="Calibri" panose="020F0502020204030204" pitchFamily="34" charset="0"/>
              <a:cs typeface="Calibri" panose="020F0502020204030204" pitchFamily="34" charset="0"/>
            </a:endParaRPr>
          </a:p>
          <a:p>
            <a:endParaRPr lang="fr-FR"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fr-FR" dirty="0">
                <a:latin typeface="Calibri" panose="020F0502020204030204" pitchFamily="34" charset="0"/>
                <a:ea typeface="Calibri" panose="020F0502020204030204" pitchFamily="34" charset="0"/>
                <a:cs typeface="Calibri" panose="020F0502020204030204" pitchFamily="34" charset="0"/>
              </a:rPr>
              <a:t>Non. Un robot peut contenir de l’IA, mais une IA peut aussi être seulement un programme sans corps.</a:t>
            </a:r>
          </a:p>
          <a:p>
            <a:endParaRPr lang="fr-FR" dirty="0">
              <a:latin typeface="Calibri" panose="020F0502020204030204" pitchFamily="34" charset="0"/>
              <a:ea typeface="Calibri" panose="020F0502020204030204" pitchFamily="34" charset="0"/>
              <a:cs typeface="Calibri" panose="020F0502020204030204" pitchFamily="34" charset="0"/>
            </a:endParaRPr>
          </a:p>
        </p:txBody>
      </p:sp>
      <p:sp>
        <p:nvSpPr>
          <p:cNvPr id="7" name="Espace réservé du contenu 3">
            <a:extLst>
              <a:ext uri="{FF2B5EF4-FFF2-40B4-BE49-F238E27FC236}">
                <a16:creationId xmlns:a16="http://schemas.microsoft.com/office/drawing/2014/main" id="{6A202D38-04A5-9EDA-24DB-1A7FDADE5261}"/>
              </a:ext>
            </a:extLst>
          </p:cNvPr>
          <p:cNvSpPr txBox="1">
            <a:spLocks/>
          </p:cNvSpPr>
          <p:nvPr/>
        </p:nvSpPr>
        <p:spPr>
          <a:xfrm>
            <a:off x="4914203" y="1952893"/>
            <a:ext cx="4829683" cy="1788019"/>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Confusion 2 : si ça répond bien, c’est vrai</a:t>
            </a:r>
            <a:endParaRPr lang="fr-FR" dirty="0">
              <a:latin typeface="Calibri" panose="020F0502020204030204" pitchFamily="34" charset="0"/>
              <a:ea typeface="Calibri" panose="020F0502020204030204" pitchFamily="34" charset="0"/>
              <a:cs typeface="Calibri" panose="020F0502020204030204" pitchFamily="34" charset="0"/>
            </a:endParaRPr>
          </a:p>
          <a:p>
            <a:endParaRPr lang="fr-FR"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fr-FR" dirty="0">
                <a:latin typeface="Calibri" panose="020F0502020204030204" pitchFamily="34" charset="0"/>
                <a:ea typeface="Calibri" panose="020F0502020204030204" pitchFamily="34" charset="0"/>
                <a:cs typeface="Calibri" panose="020F0502020204030204" pitchFamily="34" charset="0"/>
              </a:rPr>
              <a:t>Non. Une réponse bien formulée n’est pas forcément juste.</a:t>
            </a:r>
          </a:p>
        </p:txBody>
      </p:sp>
      <p:sp>
        <p:nvSpPr>
          <p:cNvPr id="8" name="Espace réservé du contenu 3">
            <a:extLst>
              <a:ext uri="{FF2B5EF4-FFF2-40B4-BE49-F238E27FC236}">
                <a16:creationId xmlns:a16="http://schemas.microsoft.com/office/drawing/2014/main" id="{737C792E-066C-F7A5-C75B-663FE3AC778A}"/>
              </a:ext>
            </a:extLst>
          </p:cNvPr>
          <p:cNvSpPr txBox="1">
            <a:spLocks/>
          </p:cNvSpPr>
          <p:nvPr/>
        </p:nvSpPr>
        <p:spPr>
          <a:xfrm>
            <a:off x="677334" y="4033591"/>
            <a:ext cx="4185623" cy="1788019"/>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Confusion 3 : l’IA sait tout</a:t>
            </a:r>
            <a:endParaRPr lang="fr-FR"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fr-FR"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fr-FR" dirty="0">
                <a:latin typeface="Calibri" panose="020F0502020204030204" pitchFamily="34" charset="0"/>
                <a:ea typeface="Calibri" panose="020F0502020204030204" pitchFamily="34" charset="0"/>
                <a:cs typeface="Calibri" panose="020F0502020204030204" pitchFamily="34" charset="0"/>
              </a:rPr>
              <a:t>Non. Elle produit à partir de données et de calculs ; elle peut manquer d’infos, mélanger ou inventer.</a:t>
            </a:r>
          </a:p>
        </p:txBody>
      </p:sp>
      <p:sp>
        <p:nvSpPr>
          <p:cNvPr id="9" name="Espace réservé du contenu 3">
            <a:extLst>
              <a:ext uri="{FF2B5EF4-FFF2-40B4-BE49-F238E27FC236}">
                <a16:creationId xmlns:a16="http://schemas.microsoft.com/office/drawing/2014/main" id="{9576981E-42EE-4BC0-3B72-F5A85788384B}"/>
              </a:ext>
            </a:extLst>
          </p:cNvPr>
          <p:cNvSpPr txBox="1">
            <a:spLocks/>
          </p:cNvSpPr>
          <p:nvPr/>
        </p:nvSpPr>
        <p:spPr>
          <a:xfrm>
            <a:off x="4914203" y="4033591"/>
            <a:ext cx="4829683" cy="1788019"/>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Confusion 4 : l’IA pense comme un humain</a:t>
            </a:r>
            <a:endParaRPr lang="fr-FR" dirty="0">
              <a:latin typeface="Calibri" panose="020F0502020204030204" pitchFamily="34" charset="0"/>
              <a:ea typeface="Calibri" panose="020F0502020204030204" pitchFamily="34" charset="0"/>
              <a:cs typeface="Calibri" panose="020F0502020204030204" pitchFamily="34" charset="0"/>
            </a:endParaRPr>
          </a:p>
          <a:p>
            <a:pPr marL="0" indent="0">
              <a:buNone/>
            </a:pPr>
            <a:endParaRPr lang="fr-FR"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fr-FR" dirty="0">
                <a:latin typeface="Calibri" panose="020F0502020204030204" pitchFamily="34" charset="0"/>
                <a:ea typeface="Calibri" panose="020F0502020204030204" pitchFamily="34" charset="0"/>
                <a:cs typeface="Calibri" panose="020F0502020204030204" pitchFamily="34" charset="0"/>
              </a:rPr>
              <a:t>Non. Elle ne raisonne pas avec conscience, expérience vécue et intention comme un humain.</a:t>
            </a:r>
          </a:p>
        </p:txBody>
      </p:sp>
    </p:spTree>
    <p:extLst>
      <p:ext uri="{BB962C8B-B14F-4D97-AF65-F5344CB8AC3E}">
        <p14:creationId xmlns:p14="http://schemas.microsoft.com/office/powerpoint/2010/main" val="13536521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895808A-03B6-6DBF-A7B1-292C4AD6D302}"/>
              </a:ext>
            </a:extLst>
          </p:cNvPr>
          <p:cNvSpPr>
            <a:spLocks noGrp="1"/>
          </p:cNvSpPr>
          <p:nvPr>
            <p:ph type="title"/>
          </p:nvPr>
        </p:nvSpPr>
        <p:spPr>
          <a:xfrm>
            <a:off x="677333" y="308637"/>
            <a:ext cx="8596668" cy="1140135"/>
          </a:xfrm>
        </p:spPr>
        <p:txBody>
          <a:bodyPr anchor="ctr"/>
          <a:lstStyle/>
          <a:p>
            <a:pPr algn="ctr"/>
            <a:r>
              <a:rPr lang="fr-FR" b="1" dirty="0">
                <a:latin typeface="Calibri" panose="020F0502020204030204" pitchFamily="34" charset="0"/>
                <a:ea typeface="Calibri" panose="020F0502020204030204" pitchFamily="34" charset="0"/>
                <a:cs typeface="Calibri" panose="020F0502020204030204" pitchFamily="34" charset="0"/>
              </a:rPr>
              <a:t>Activité : “Humain ou IA ?”</a:t>
            </a:r>
            <a:endParaRPr lang="fr-FR" dirty="0">
              <a:latin typeface="Calibri" panose="020F0502020204030204" pitchFamily="34" charset="0"/>
              <a:ea typeface="Calibri" panose="020F0502020204030204" pitchFamily="34" charset="0"/>
              <a:cs typeface="Calibri" panose="020F0502020204030204" pitchFamily="34" charset="0"/>
            </a:endParaRPr>
          </a:p>
        </p:txBody>
      </p:sp>
      <p:sp>
        <p:nvSpPr>
          <p:cNvPr id="4" name="Espace réservé du contenu 3">
            <a:extLst>
              <a:ext uri="{FF2B5EF4-FFF2-40B4-BE49-F238E27FC236}">
                <a16:creationId xmlns:a16="http://schemas.microsoft.com/office/drawing/2014/main" id="{14C85E93-47EC-A502-D7F4-6185919FA652}"/>
              </a:ext>
            </a:extLst>
          </p:cNvPr>
          <p:cNvSpPr>
            <a:spLocks noGrp="1"/>
          </p:cNvSpPr>
          <p:nvPr>
            <p:ph sz="half" idx="2"/>
          </p:nvPr>
        </p:nvSpPr>
        <p:spPr>
          <a:xfrm>
            <a:off x="677332" y="3243834"/>
            <a:ext cx="10786533" cy="2332961"/>
          </a:xfrm>
        </p:spPr>
        <p:txBody>
          <a:bodyPr>
            <a:normAutofit lnSpcReduction="10000"/>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Réponse attendue : plutôt humain</a:t>
            </a:r>
            <a:endParaRPr lang="fr-FR"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Indices possibles</a:t>
            </a:r>
          </a:p>
          <a:p>
            <a:r>
              <a:rPr lang="fr-FR" dirty="0">
                <a:latin typeface="Calibri" panose="020F0502020204030204" pitchFamily="34" charset="0"/>
                <a:ea typeface="Calibri" panose="020F0502020204030204" pitchFamily="34" charset="0"/>
                <a:cs typeface="Calibri" panose="020F0502020204030204" pitchFamily="34" charset="0"/>
              </a:rPr>
              <a:t>Présence d’une sensation personnelle</a:t>
            </a:r>
          </a:p>
          <a:p>
            <a:r>
              <a:rPr lang="fr-FR" dirty="0">
                <a:latin typeface="Calibri" panose="020F0502020204030204" pitchFamily="34" charset="0"/>
                <a:ea typeface="Calibri" panose="020F0502020204030204" pitchFamily="34" charset="0"/>
                <a:cs typeface="Calibri" panose="020F0502020204030204" pitchFamily="34" charset="0"/>
              </a:rPr>
              <a:t>Image poétique assez incarnée</a:t>
            </a:r>
          </a:p>
          <a:p>
            <a:r>
              <a:rPr lang="fr-FR" dirty="0">
                <a:latin typeface="Calibri" panose="020F0502020204030204" pitchFamily="34" charset="0"/>
                <a:ea typeface="Calibri" panose="020F0502020204030204" pitchFamily="34" charset="0"/>
                <a:cs typeface="Calibri" panose="020F0502020204030204" pitchFamily="34" charset="0"/>
              </a:rPr>
              <a:t>Regard subjectif</a:t>
            </a:r>
          </a:p>
          <a:p>
            <a:r>
              <a:rPr lang="fr-FR" dirty="0">
                <a:latin typeface="Calibri" panose="020F0502020204030204" pitchFamily="34" charset="0"/>
                <a:ea typeface="Calibri" panose="020F0502020204030204" pitchFamily="34" charset="0"/>
                <a:cs typeface="Calibri" panose="020F0502020204030204" pitchFamily="34" charset="0"/>
              </a:rPr>
              <a:t>Tournure moins standardisée</a:t>
            </a:r>
          </a:p>
        </p:txBody>
      </p:sp>
      <p:sp>
        <p:nvSpPr>
          <p:cNvPr id="8" name="Espace réservé du contenu 3">
            <a:extLst>
              <a:ext uri="{FF2B5EF4-FFF2-40B4-BE49-F238E27FC236}">
                <a16:creationId xmlns:a16="http://schemas.microsoft.com/office/drawing/2014/main" id="{11ECBD46-E3F0-0B77-37F3-5F782E1B183F}"/>
              </a:ext>
            </a:extLst>
          </p:cNvPr>
          <p:cNvSpPr txBox="1">
            <a:spLocks/>
          </p:cNvSpPr>
          <p:nvPr/>
        </p:nvSpPr>
        <p:spPr>
          <a:xfrm>
            <a:off x="677333" y="1629436"/>
            <a:ext cx="9161611" cy="1543531"/>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fr-FR" dirty="0">
                <a:latin typeface="Calibri" panose="020F0502020204030204" pitchFamily="34" charset="0"/>
                <a:ea typeface="Calibri" panose="020F0502020204030204" pitchFamily="34" charset="0"/>
                <a:cs typeface="Calibri" panose="020F0502020204030204" pitchFamily="34" charset="0"/>
              </a:rPr>
              <a:t>Petit texte:</a:t>
            </a:r>
          </a:p>
          <a:p>
            <a:pPr marL="0" indent="0">
              <a:buNone/>
            </a:pPr>
            <a:r>
              <a:rPr lang="fr-FR" dirty="0">
                <a:latin typeface="Calibri" panose="020F0502020204030204" pitchFamily="34" charset="0"/>
                <a:ea typeface="Calibri" panose="020F0502020204030204" pitchFamily="34" charset="0"/>
                <a:cs typeface="Calibri" panose="020F0502020204030204" pitchFamily="34" charset="0"/>
              </a:rPr>
              <a:t>Ce matin, en arrivant au lycée, j’ai vu la brume flotter au-dessus du parking comme une fumée tranquille. Tout semblait ralenti, presque silencieux, jusqu’au moment où la sonnerie a coupé le charme d’un seul coup. J’ai pensé que l’école ressemblait parfois à ça : un lieu ordinaire qui devient étrange si on prend le temps de regarder.</a:t>
            </a:r>
          </a:p>
        </p:txBody>
      </p:sp>
      <p:sp>
        <p:nvSpPr>
          <p:cNvPr id="10" name="ZoneTexte 9">
            <a:extLst>
              <a:ext uri="{FF2B5EF4-FFF2-40B4-BE49-F238E27FC236}">
                <a16:creationId xmlns:a16="http://schemas.microsoft.com/office/drawing/2014/main" id="{066651A1-AC3F-F207-89DA-40FC5614ECD1}"/>
              </a:ext>
            </a:extLst>
          </p:cNvPr>
          <p:cNvSpPr txBox="1"/>
          <p:nvPr/>
        </p:nvSpPr>
        <p:spPr>
          <a:xfrm>
            <a:off x="677333" y="5576795"/>
            <a:ext cx="10786533" cy="646331"/>
          </a:xfrm>
          <a:prstGeom prst="rect">
            <a:avLst/>
          </a:prstGeom>
          <a:noFill/>
        </p:spPr>
        <p:txBody>
          <a:bodyPr wrap="square" rtlCol="0">
            <a:spAutoFit/>
          </a:bodyPr>
          <a:lstStyle/>
          <a:p>
            <a:r>
              <a:rPr lang="fr-FR" dirty="0">
                <a:latin typeface="Calibri" panose="020F0502020204030204" pitchFamily="34" charset="0"/>
                <a:ea typeface="Calibri" panose="020F0502020204030204" pitchFamily="34" charset="0"/>
                <a:cs typeface="Calibri" panose="020F0502020204030204" pitchFamily="34" charset="0"/>
              </a:rPr>
              <a:t>Ce texte semble humain parce qu’il donne une impression vécue, sensible, un peu singulière.</a:t>
            </a:r>
            <a:br>
              <a:rPr lang="fr-FR" dirty="0">
                <a:latin typeface="Calibri" panose="020F0502020204030204" pitchFamily="34" charset="0"/>
                <a:ea typeface="Calibri" panose="020F0502020204030204" pitchFamily="34" charset="0"/>
                <a:cs typeface="Calibri" panose="020F0502020204030204" pitchFamily="34" charset="0"/>
              </a:rPr>
            </a:br>
            <a:r>
              <a:rPr lang="fr-FR" dirty="0">
                <a:latin typeface="Calibri" panose="020F0502020204030204" pitchFamily="34" charset="0"/>
                <a:ea typeface="Calibri" panose="020F0502020204030204" pitchFamily="34" charset="0"/>
                <a:cs typeface="Calibri" panose="020F0502020204030204" pitchFamily="34" charset="0"/>
              </a:rPr>
              <a:t>Mais attention : une IA peut aussi imiter ce style.</a:t>
            </a:r>
          </a:p>
        </p:txBody>
      </p:sp>
    </p:spTree>
    <p:extLst>
      <p:ext uri="{BB962C8B-B14F-4D97-AF65-F5344CB8AC3E}">
        <p14:creationId xmlns:p14="http://schemas.microsoft.com/office/powerpoint/2010/main" val="23843334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908E8-02E2-E223-8B8A-C35BA8D3787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0054965-7EBF-04FA-BB56-BF21019A5514}"/>
              </a:ext>
            </a:extLst>
          </p:cNvPr>
          <p:cNvSpPr>
            <a:spLocks noGrp="1"/>
          </p:cNvSpPr>
          <p:nvPr>
            <p:ph type="title"/>
          </p:nvPr>
        </p:nvSpPr>
        <p:spPr>
          <a:xfrm>
            <a:off x="677333" y="308637"/>
            <a:ext cx="8596668" cy="1140135"/>
          </a:xfrm>
        </p:spPr>
        <p:txBody>
          <a:bodyPr anchor="ctr"/>
          <a:lstStyle/>
          <a:p>
            <a:pPr algn="ctr"/>
            <a:r>
              <a:rPr lang="fr-FR" b="1" dirty="0">
                <a:latin typeface="Calibri" panose="020F0502020204030204" pitchFamily="34" charset="0"/>
                <a:ea typeface="Calibri" panose="020F0502020204030204" pitchFamily="34" charset="0"/>
                <a:cs typeface="Calibri" panose="020F0502020204030204" pitchFamily="34" charset="0"/>
              </a:rPr>
              <a:t>Activité : “Humain ou IA ?”</a:t>
            </a:r>
            <a:endParaRPr lang="fr-FR" dirty="0">
              <a:latin typeface="Calibri" panose="020F0502020204030204" pitchFamily="34" charset="0"/>
              <a:ea typeface="Calibri" panose="020F0502020204030204" pitchFamily="34" charset="0"/>
              <a:cs typeface="Calibri" panose="020F0502020204030204" pitchFamily="34" charset="0"/>
            </a:endParaRPr>
          </a:p>
        </p:txBody>
      </p:sp>
      <p:sp>
        <p:nvSpPr>
          <p:cNvPr id="4" name="Espace réservé du contenu 3">
            <a:extLst>
              <a:ext uri="{FF2B5EF4-FFF2-40B4-BE49-F238E27FC236}">
                <a16:creationId xmlns:a16="http://schemas.microsoft.com/office/drawing/2014/main" id="{B7BFFD28-EC7F-9682-0E9C-2B1C400B1EDD}"/>
              </a:ext>
            </a:extLst>
          </p:cNvPr>
          <p:cNvSpPr>
            <a:spLocks noGrp="1"/>
          </p:cNvSpPr>
          <p:nvPr>
            <p:ph sz="half" idx="2"/>
          </p:nvPr>
        </p:nvSpPr>
        <p:spPr>
          <a:xfrm>
            <a:off x="677332" y="3243834"/>
            <a:ext cx="10786533" cy="2332961"/>
          </a:xfrm>
        </p:spPr>
        <p:txBody>
          <a:bodyPr>
            <a:no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Réponse attendue : plutôt IA</a:t>
            </a:r>
            <a:endParaRPr lang="fr-FR"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Indices possibles</a:t>
            </a:r>
          </a:p>
          <a:p>
            <a:r>
              <a:rPr lang="fr-FR" dirty="0">
                <a:latin typeface="Calibri" panose="020F0502020204030204" pitchFamily="34" charset="0"/>
                <a:ea typeface="Calibri" panose="020F0502020204030204" pitchFamily="34" charset="0"/>
                <a:cs typeface="Calibri" panose="020F0502020204030204" pitchFamily="34" charset="0"/>
              </a:rPr>
              <a:t>Formulation très générale</a:t>
            </a:r>
          </a:p>
          <a:p>
            <a:r>
              <a:rPr lang="fr-FR" dirty="0">
                <a:latin typeface="Calibri" panose="020F0502020204030204" pitchFamily="34" charset="0"/>
                <a:ea typeface="Calibri" panose="020F0502020204030204" pitchFamily="34" charset="0"/>
                <a:cs typeface="Calibri" panose="020F0502020204030204" pitchFamily="34" charset="0"/>
              </a:rPr>
              <a:t>Vocabulaire correct mais assez creux</a:t>
            </a:r>
          </a:p>
          <a:p>
            <a:r>
              <a:rPr lang="fr-FR" dirty="0">
                <a:latin typeface="Calibri" panose="020F0502020204030204" pitchFamily="34" charset="0"/>
                <a:ea typeface="Calibri" panose="020F0502020204030204" pitchFamily="34" charset="0"/>
                <a:cs typeface="Calibri" panose="020F0502020204030204" pitchFamily="34" charset="0"/>
              </a:rPr>
              <a:t>Répétition d’idées larges sans exemple précis</a:t>
            </a:r>
          </a:p>
          <a:p>
            <a:r>
              <a:rPr lang="fr-FR" dirty="0">
                <a:latin typeface="Calibri" panose="020F0502020204030204" pitchFamily="34" charset="0"/>
                <a:ea typeface="Calibri" panose="020F0502020204030204" pitchFamily="34" charset="0"/>
                <a:cs typeface="Calibri" panose="020F0502020204030204" pitchFamily="34" charset="0"/>
              </a:rPr>
              <a:t>Impression de texte “propre” mais très plat</a:t>
            </a:r>
          </a:p>
        </p:txBody>
      </p:sp>
      <p:sp>
        <p:nvSpPr>
          <p:cNvPr id="8" name="Espace réservé du contenu 3">
            <a:extLst>
              <a:ext uri="{FF2B5EF4-FFF2-40B4-BE49-F238E27FC236}">
                <a16:creationId xmlns:a16="http://schemas.microsoft.com/office/drawing/2014/main" id="{3F0886CD-DC9A-DB26-E90B-BE61A79E2FC2}"/>
              </a:ext>
            </a:extLst>
          </p:cNvPr>
          <p:cNvSpPr txBox="1">
            <a:spLocks/>
          </p:cNvSpPr>
          <p:nvPr/>
        </p:nvSpPr>
        <p:spPr>
          <a:xfrm>
            <a:off x="677333" y="1629437"/>
            <a:ext cx="9125035" cy="1614397"/>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fr-FR" dirty="0">
                <a:latin typeface="Calibri" panose="020F0502020204030204" pitchFamily="34" charset="0"/>
                <a:ea typeface="Calibri" panose="020F0502020204030204" pitchFamily="34" charset="0"/>
                <a:cs typeface="Calibri" panose="020F0502020204030204" pitchFamily="34" charset="0"/>
              </a:rPr>
              <a:t>Petit texte:</a:t>
            </a:r>
          </a:p>
          <a:p>
            <a:pPr marL="0" indent="0">
              <a:buNone/>
            </a:pPr>
            <a:r>
              <a:rPr lang="fr-FR" dirty="0">
                <a:latin typeface="Calibri" panose="020F0502020204030204" pitchFamily="34" charset="0"/>
                <a:ea typeface="Calibri" panose="020F0502020204030204" pitchFamily="34" charset="0"/>
                <a:cs typeface="Calibri" panose="020F0502020204030204" pitchFamily="34" charset="0"/>
              </a:rPr>
              <a:t>L’apprentissage est un processus fondamental qui permet à un individu d’acquérir de nouvelles compétences, de développer sa compréhension et d’améliorer ses capacités dans différents domaines. Il est important d’apprendre régulièrement, avec motivation et méthode, afin d’obtenir des résultats efficaces et durables dans le temps.</a:t>
            </a:r>
          </a:p>
        </p:txBody>
      </p:sp>
      <p:sp>
        <p:nvSpPr>
          <p:cNvPr id="10" name="ZoneTexte 9">
            <a:extLst>
              <a:ext uri="{FF2B5EF4-FFF2-40B4-BE49-F238E27FC236}">
                <a16:creationId xmlns:a16="http://schemas.microsoft.com/office/drawing/2014/main" id="{77917179-10CC-BFD9-E72C-86E2F9CE0F48}"/>
              </a:ext>
            </a:extLst>
          </p:cNvPr>
          <p:cNvSpPr txBox="1"/>
          <p:nvPr/>
        </p:nvSpPr>
        <p:spPr>
          <a:xfrm>
            <a:off x="677333" y="5576795"/>
            <a:ext cx="10786533" cy="369332"/>
          </a:xfrm>
          <a:prstGeom prst="rect">
            <a:avLst/>
          </a:prstGeom>
          <a:noFill/>
        </p:spPr>
        <p:txBody>
          <a:bodyPr wrap="square" rtlCol="0">
            <a:spAutoFit/>
          </a:bodyPr>
          <a:lstStyle/>
          <a:p>
            <a:r>
              <a:rPr lang="fr-FR" dirty="0">
                <a:latin typeface="Calibri" panose="020F0502020204030204" pitchFamily="34" charset="0"/>
                <a:ea typeface="Calibri" panose="020F0502020204030204" pitchFamily="34" charset="0"/>
                <a:cs typeface="Calibri" panose="020F0502020204030204" pitchFamily="34" charset="0"/>
              </a:rPr>
              <a:t>C’est typique d’un texte qui sonne bien mais reste très générique.</a:t>
            </a:r>
          </a:p>
        </p:txBody>
      </p:sp>
    </p:spTree>
    <p:extLst>
      <p:ext uri="{BB962C8B-B14F-4D97-AF65-F5344CB8AC3E}">
        <p14:creationId xmlns:p14="http://schemas.microsoft.com/office/powerpoint/2010/main" val="39782022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ABF00-389C-7E73-2184-80EBC375F0D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1659233-23C6-0DD0-87CB-1F36F76E4044}"/>
              </a:ext>
            </a:extLst>
          </p:cNvPr>
          <p:cNvSpPr>
            <a:spLocks noGrp="1"/>
          </p:cNvSpPr>
          <p:nvPr>
            <p:ph type="title"/>
          </p:nvPr>
        </p:nvSpPr>
        <p:spPr>
          <a:xfrm>
            <a:off x="677333" y="308637"/>
            <a:ext cx="8596668" cy="1140135"/>
          </a:xfrm>
        </p:spPr>
        <p:txBody>
          <a:bodyPr anchor="ctr"/>
          <a:lstStyle/>
          <a:p>
            <a:pPr algn="ctr"/>
            <a:r>
              <a:rPr lang="fr-FR" b="1" dirty="0">
                <a:latin typeface="Calibri" panose="020F0502020204030204" pitchFamily="34" charset="0"/>
                <a:ea typeface="Calibri" panose="020F0502020204030204" pitchFamily="34" charset="0"/>
                <a:cs typeface="Calibri" panose="020F0502020204030204" pitchFamily="34" charset="0"/>
              </a:rPr>
              <a:t>Activité : “Humain ou IA ?”</a:t>
            </a:r>
            <a:endParaRPr lang="fr-FR" dirty="0">
              <a:latin typeface="Calibri" panose="020F0502020204030204" pitchFamily="34" charset="0"/>
              <a:ea typeface="Calibri" panose="020F0502020204030204" pitchFamily="34" charset="0"/>
              <a:cs typeface="Calibri" panose="020F0502020204030204" pitchFamily="34" charset="0"/>
            </a:endParaRPr>
          </a:p>
        </p:txBody>
      </p:sp>
      <p:sp>
        <p:nvSpPr>
          <p:cNvPr id="4" name="Espace réservé du contenu 3">
            <a:extLst>
              <a:ext uri="{FF2B5EF4-FFF2-40B4-BE49-F238E27FC236}">
                <a16:creationId xmlns:a16="http://schemas.microsoft.com/office/drawing/2014/main" id="{E443ED9D-8373-DA50-1E9B-6D3246E40BC4}"/>
              </a:ext>
            </a:extLst>
          </p:cNvPr>
          <p:cNvSpPr>
            <a:spLocks noGrp="1"/>
          </p:cNvSpPr>
          <p:nvPr>
            <p:ph sz="half" idx="2"/>
          </p:nvPr>
        </p:nvSpPr>
        <p:spPr>
          <a:xfrm>
            <a:off x="677333" y="3149755"/>
            <a:ext cx="10786533" cy="2332961"/>
          </a:xfrm>
        </p:spPr>
        <p:txBody>
          <a:bodyPr>
            <a:no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Réponse attendue : plutôt humain</a:t>
            </a:r>
            <a:endParaRPr lang="fr-FR"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Indices possibles</a:t>
            </a:r>
          </a:p>
          <a:p>
            <a:r>
              <a:rPr lang="fr-FR" dirty="0">
                <a:latin typeface="Calibri" panose="020F0502020204030204" pitchFamily="34" charset="0"/>
                <a:ea typeface="Calibri" panose="020F0502020204030204" pitchFamily="34" charset="0"/>
                <a:cs typeface="Calibri" panose="020F0502020204030204" pitchFamily="34" charset="0"/>
              </a:rPr>
              <a:t>Attention au détail concret</a:t>
            </a:r>
          </a:p>
          <a:p>
            <a:r>
              <a:rPr lang="fr-FR" dirty="0">
                <a:latin typeface="Calibri" panose="020F0502020204030204" pitchFamily="34" charset="0"/>
                <a:ea typeface="Calibri" panose="020F0502020204030204" pitchFamily="34" charset="0"/>
                <a:cs typeface="Calibri" panose="020F0502020204030204" pitchFamily="34" charset="0"/>
              </a:rPr>
              <a:t>Interprétation du flou</a:t>
            </a:r>
          </a:p>
          <a:p>
            <a:r>
              <a:rPr lang="fr-FR" dirty="0">
                <a:latin typeface="Calibri" panose="020F0502020204030204" pitchFamily="34" charset="0"/>
                <a:ea typeface="Calibri" panose="020F0502020204030204" pitchFamily="34" charset="0"/>
                <a:cs typeface="Calibri" panose="020F0502020204030204" pitchFamily="34" charset="0"/>
              </a:rPr>
              <a:t>Lecture, avec une certaine sensibilité, de la scène</a:t>
            </a:r>
          </a:p>
          <a:p>
            <a:r>
              <a:rPr lang="fr-FR" dirty="0">
                <a:latin typeface="Calibri" panose="020F0502020204030204" pitchFamily="34" charset="0"/>
                <a:ea typeface="Calibri" panose="020F0502020204030204" pitchFamily="34" charset="0"/>
                <a:cs typeface="Calibri" panose="020F0502020204030204" pitchFamily="34" charset="0"/>
              </a:rPr>
              <a:t>Description qui ne se contente pas d’énumérer</a:t>
            </a:r>
          </a:p>
        </p:txBody>
      </p:sp>
      <p:sp>
        <p:nvSpPr>
          <p:cNvPr id="8" name="Espace réservé du contenu 3">
            <a:extLst>
              <a:ext uri="{FF2B5EF4-FFF2-40B4-BE49-F238E27FC236}">
                <a16:creationId xmlns:a16="http://schemas.microsoft.com/office/drawing/2014/main" id="{16748BAA-365C-A02A-D2C2-CEA3D7BA39EB}"/>
              </a:ext>
            </a:extLst>
          </p:cNvPr>
          <p:cNvSpPr txBox="1">
            <a:spLocks/>
          </p:cNvSpPr>
          <p:nvPr/>
        </p:nvSpPr>
        <p:spPr>
          <a:xfrm>
            <a:off x="677333" y="1629437"/>
            <a:ext cx="8951299" cy="1520318"/>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fr-FR" dirty="0">
                <a:latin typeface="Calibri" panose="020F0502020204030204" pitchFamily="34" charset="0"/>
                <a:ea typeface="Calibri" panose="020F0502020204030204" pitchFamily="34" charset="0"/>
                <a:cs typeface="Calibri" panose="020F0502020204030204" pitchFamily="34" charset="0"/>
              </a:rPr>
              <a:t>Description d’image:</a:t>
            </a:r>
          </a:p>
          <a:p>
            <a:pPr marL="0" indent="0">
              <a:buNone/>
            </a:pPr>
            <a:r>
              <a:rPr lang="fr-FR" dirty="0">
                <a:latin typeface="Calibri" panose="020F0502020204030204" pitchFamily="34" charset="0"/>
                <a:ea typeface="Calibri" panose="020F0502020204030204" pitchFamily="34" charset="0"/>
                <a:cs typeface="Calibri" panose="020F0502020204030204" pitchFamily="34" charset="0"/>
              </a:rPr>
              <a:t>On voit une femme assise à la terrasse d’un café. Elle porte un manteau rouge et regarde la rue. Sur la table, il y a une tasse, un carnet fermé et une paire de lunettes. En arrière-plan, les passants sont flous, comme si le photographe avait voulu isoler ce moment de calme au milieu du mouvement.</a:t>
            </a:r>
          </a:p>
        </p:txBody>
      </p:sp>
      <p:sp>
        <p:nvSpPr>
          <p:cNvPr id="10" name="ZoneTexte 9">
            <a:extLst>
              <a:ext uri="{FF2B5EF4-FFF2-40B4-BE49-F238E27FC236}">
                <a16:creationId xmlns:a16="http://schemas.microsoft.com/office/drawing/2014/main" id="{E5204030-5EF9-8000-2767-70C314D344B8}"/>
              </a:ext>
            </a:extLst>
          </p:cNvPr>
          <p:cNvSpPr txBox="1"/>
          <p:nvPr/>
        </p:nvSpPr>
        <p:spPr>
          <a:xfrm>
            <a:off x="677333" y="5576795"/>
            <a:ext cx="10786533" cy="369332"/>
          </a:xfrm>
          <a:prstGeom prst="rect">
            <a:avLst/>
          </a:prstGeom>
          <a:noFill/>
        </p:spPr>
        <p:txBody>
          <a:bodyPr wrap="square" rtlCol="0">
            <a:spAutoFit/>
          </a:bodyPr>
          <a:lstStyle/>
          <a:p>
            <a:r>
              <a:rPr lang="fr-FR" dirty="0">
                <a:latin typeface="Calibri" panose="020F0502020204030204" pitchFamily="34" charset="0"/>
                <a:ea typeface="Calibri" panose="020F0502020204030204" pitchFamily="34" charset="0"/>
                <a:cs typeface="Calibri" panose="020F0502020204030204" pitchFamily="34" charset="0"/>
              </a:rPr>
              <a:t>Le texte ne décrit pas seulement, il interprète légèrement l’intention de l’image.</a:t>
            </a:r>
          </a:p>
        </p:txBody>
      </p:sp>
    </p:spTree>
    <p:extLst>
      <p:ext uri="{BB962C8B-B14F-4D97-AF65-F5344CB8AC3E}">
        <p14:creationId xmlns:p14="http://schemas.microsoft.com/office/powerpoint/2010/main" val="28777092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7D6BAA-FE24-CE57-FCAD-769CE4AFD24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72E9613-6DC9-5EB0-1728-3E39D741B42E}"/>
              </a:ext>
            </a:extLst>
          </p:cNvPr>
          <p:cNvSpPr>
            <a:spLocks noGrp="1"/>
          </p:cNvSpPr>
          <p:nvPr>
            <p:ph type="title"/>
          </p:nvPr>
        </p:nvSpPr>
        <p:spPr>
          <a:xfrm>
            <a:off x="677333" y="308637"/>
            <a:ext cx="8596668" cy="1140135"/>
          </a:xfrm>
        </p:spPr>
        <p:txBody>
          <a:bodyPr anchor="ctr"/>
          <a:lstStyle/>
          <a:p>
            <a:pPr algn="ctr"/>
            <a:r>
              <a:rPr lang="fr-FR" b="1" dirty="0">
                <a:latin typeface="Calibri" panose="020F0502020204030204" pitchFamily="34" charset="0"/>
                <a:ea typeface="Calibri" panose="020F0502020204030204" pitchFamily="34" charset="0"/>
                <a:cs typeface="Calibri" panose="020F0502020204030204" pitchFamily="34" charset="0"/>
              </a:rPr>
              <a:t>Activité : “Humain ou IA ?”</a:t>
            </a:r>
            <a:endParaRPr lang="fr-FR" dirty="0">
              <a:latin typeface="Calibri" panose="020F0502020204030204" pitchFamily="34" charset="0"/>
              <a:ea typeface="Calibri" panose="020F0502020204030204" pitchFamily="34" charset="0"/>
              <a:cs typeface="Calibri" panose="020F0502020204030204" pitchFamily="34" charset="0"/>
            </a:endParaRPr>
          </a:p>
        </p:txBody>
      </p:sp>
      <p:sp>
        <p:nvSpPr>
          <p:cNvPr id="4" name="Espace réservé du contenu 3">
            <a:extLst>
              <a:ext uri="{FF2B5EF4-FFF2-40B4-BE49-F238E27FC236}">
                <a16:creationId xmlns:a16="http://schemas.microsoft.com/office/drawing/2014/main" id="{084C370B-F7C3-ED59-738A-560B119560EE}"/>
              </a:ext>
            </a:extLst>
          </p:cNvPr>
          <p:cNvSpPr>
            <a:spLocks noGrp="1"/>
          </p:cNvSpPr>
          <p:nvPr>
            <p:ph sz="half" idx="2"/>
          </p:nvPr>
        </p:nvSpPr>
        <p:spPr>
          <a:xfrm>
            <a:off x="677332" y="3429000"/>
            <a:ext cx="10786533" cy="2332961"/>
          </a:xfrm>
        </p:spPr>
        <p:txBody>
          <a:bodyPr>
            <a:no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Réponse attendue : plutôt IA</a:t>
            </a:r>
            <a:endParaRPr lang="fr-FR"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Indices possibles</a:t>
            </a:r>
          </a:p>
          <a:p>
            <a:r>
              <a:rPr lang="fr-FR" dirty="0">
                <a:latin typeface="Calibri" panose="020F0502020204030204" pitchFamily="34" charset="0"/>
                <a:ea typeface="Calibri" panose="020F0502020204030204" pitchFamily="34" charset="0"/>
                <a:cs typeface="Calibri" panose="020F0502020204030204" pitchFamily="34" charset="0"/>
              </a:rPr>
              <a:t>Vocabulaire très vague</a:t>
            </a:r>
          </a:p>
          <a:p>
            <a:r>
              <a:rPr lang="fr-FR" dirty="0">
                <a:latin typeface="Calibri" panose="020F0502020204030204" pitchFamily="34" charset="0"/>
                <a:ea typeface="Calibri" panose="020F0502020204030204" pitchFamily="34" charset="0"/>
                <a:cs typeface="Calibri" panose="020F0502020204030204" pitchFamily="34" charset="0"/>
              </a:rPr>
              <a:t>Phrases très générales</a:t>
            </a:r>
          </a:p>
          <a:p>
            <a:r>
              <a:rPr lang="fr-FR" dirty="0">
                <a:latin typeface="Calibri" panose="020F0502020204030204" pitchFamily="34" charset="0"/>
                <a:ea typeface="Calibri" panose="020F0502020204030204" pitchFamily="34" charset="0"/>
                <a:cs typeface="Calibri" panose="020F0502020204030204" pitchFamily="34" charset="0"/>
              </a:rPr>
              <a:t>Beaucoup de mots valorisants, mais peu d’éléments précis</a:t>
            </a:r>
          </a:p>
          <a:p>
            <a:r>
              <a:rPr lang="fr-FR" dirty="0">
                <a:latin typeface="Calibri" panose="020F0502020204030204" pitchFamily="34" charset="0"/>
                <a:ea typeface="Calibri" panose="020F0502020204030204" pitchFamily="34" charset="0"/>
                <a:cs typeface="Calibri" panose="020F0502020204030204" pitchFamily="34" charset="0"/>
              </a:rPr>
              <a:t>Effet de “commentaire passe-partout”</a:t>
            </a:r>
          </a:p>
        </p:txBody>
      </p:sp>
      <p:sp>
        <p:nvSpPr>
          <p:cNvPr id="8" name="Espace réservé du contenu 3">
            <a:extLst>
              <a:ext uri="{FF2B5EF4-FFF2-40B4-BE49-F238E27FC236}">
                <a16:creationId xmlns:a16="http://schemas.microsoft.com/office/drawing/2014/main" id="{05EEB596-84E8-816F-D70A-66336264FC35}"/>
              </a:ext>
            </a:extLst>
          </p:cNvPr>
          <p:cNvSpPr txBox="1">
            <a:spLocks/>
          </p:cNvSpPr>
          <p:nvPr/>
        </p:nvSpPr>
        <p:spPr>
          <a:xfrm>
            <a:off x="677333" y="1629437"/>
            <a:ext cx="8804995" cy="179956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fr-FR" dirty="0">
                <a:latin typeface="Calibri" panose="020F0502020204030204" pitchFamily="34" charset="0"/>
                <a:ea typeface="Calibri" panose="020F0502020204030204" pitchFamily="34" charset="0"/>
                <a:cs typeface="Calibri" panose="020F0502020204030204" pitchFamily="34" charset="0"/>
              </a:rPr>
              <a:t>Description d’image:</a:t>
            </a:r>
          </a:p>
          <a:p>
            <a:pPr marL="0" indent="0">
              <a:buNone/>
            </a:pPr>
            <a:r>
              <a:rPr lang="fr-FR" dirty="0">
                <a:latin typeface="Calibri" panose="020F0502020204030204" pitchFamily="34" charset="0"/>
                <a:ea typeface="Calibri" panose="020F0502020204030204" pitchFamily="34" charset="0"/>
                <a:cs typeface="Calibri" panose="020F0502020204030204" pitchFamily="34" charset="0"/>
              </a:rPr>
              <a:t>Cette image présente un environnement urbain moderne avec une ambiance lumineuse douce et des détails visuels harmonieux. Le sujet principal semble être mis en valeur par une composition équilibrée, tandis que l’arrière-plan contribue à créer une profondeur esthétique agréable. L’ensemble produit une impression réaliste et soignée.</a:t>
            </a:r>
          </a:p>
        </p:txBody>
      </p:sp>
      <p:sp>
        <p:nvSpPr>
          <p:cNvPr id="10" name="ZoneTexte 9">
            <a:extLst>
              <a:ext uri="{FF2B5EF4-FFF2-40B4-BE49-F238E27FC236}">
                <a16:creationId xmlns:a16="http://schemas.microsoft.com/office/drawing/2014/main" id="{E5F808A4-F5BC-2F4D-32C8-70D916C5E9A4}"/>
              </a:ext>
            </a:extLst>
          </p:cNvPr>
          <p:cNvSpPr txBox="1"/>
          <p:nvPr/>
        </p:nvSpPr>
        <p:spPr>
          <a:xfrm>
            <a:off x="677333" y="6180031"/>
            <a:ext cx="10786533" cy="369332"/>
          </a:xfrm>
          <a:prstGeom prst="rect">
            <a:avLst/>
          </a:prstGeom>
          <a:noFill/>
        </p:spPr>
        <p:txBody>
          <a:bodyPr wrap="square" rtlCol="0">
            <a:spAutoFit/>
          </a:bodyPr>
          <a:lstStyle/>
          <a:p>
            <a:r>
              <a:rPr lang="fr-FR" dirty="0">
                <a:latin typeface="Calibri" panose="020F0502020204030204" pitchFamily="34" charset="0"/>
                <a:ea typeface="Calibri" panose="020F0502020204030204" pitchFamily="34" charset="0"/>
                <a:cs typeface="Calibri" panose="020F0502020204030204" pitchFamily="34" charset="0"/>
              </a:rPr>
              <a:t>Le texte a l’air élégant, mais il pourrait presque s’appliquer à des dizaines d’images différentes.</a:t>
            </a:r>
          </a:p>
        </p:txBody>
      </p:sp>
    </p:spTree>
    <p:extLst>
      <p:ext uri="{BB962C8B-B14F-4D97-AF65-F5344CB8AC3E}">
        <p14:creationId xmlns:p14="http://schemas.microsoft.com/office/powerpoint/2010/main" val="15627536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8F386-3F1A-6605-589B-FDC1E8DD73F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54E4518-DABD-FEFA-BDB3-480A1ACE44BD}"/>
              </a:ext>
            </a:extLst>
          </p:cNvPr>
          <p:cNvSpPr>
            <a:spLocks noGrp="1"/>
          </p:cNvSpPr>
          <p:nvPr>
            <p:ph type="title"/>
          </p:nvPr>
        </p:nvSpPr>
        <p:spPr>
          <a:xfrm>
            <a:off x="677333" y="308637"/>
            <a:ext cx="8596668" cy="1140135"/>
          </a:xfrm>
        </p:spPr>
        <p:txBody>
          <a:bodyPr anchor="ctr"/>
          <a:lstStyle/>
          <a:p>
            <a:pPr algn="ctr"/>
            <a:r>
              <a:rPr lang="fr-FR" b="1" dirty="0">
                <a:latin typeface="Calibri" panose="020F0502020204030204" pitchFamily="34" charset="0"/>
                <a:ea typeface="Calibri" panose="020F0502020204030204" pitchFamily="34" charset="0"/>
                <a:cs typeface="Calibri" panose="020F0502020204030204" pitchFamily="34" charset="0"/>
              </a:rPr>
              <a:t>Activité : “Humain ou IA ?”</a:t>
            </a:r>
            <a:endParaRPr lang="fr-FR" dirty="0">
              <a:latin typeface="Calibri" panose="020F0502020204030204" pitchFamily="34" charset="0"/>
              <a:ea typeface="Calibri" panose="020F0502020204030204" pitchFamily="34" charset="0"/>
              <a:cs typeface="Calibri" panose="020F0502020204030204" pitchFamily="34" charset="0"/>
            </a:endParaRPr>
          </a:p>
        </p:txBody>
      </p:sp>
      <p:sp>
        <p:nvSpPr>
          <p:cNvPr id="4" name="Espace réservé du contenu 3">
            <a:extLst>
              <a:ext uri="{FF2B5EF4-FFF2-40B4-BE49-F238E27FC236}">
                <a16:creationId xmlns:a16="http://schemas.microsoft.com/office/drawing/2014/main" id="{20862A62-4CCC-32D1-4CBC-5117DCC1AEEA}"/>
              </a:ext>
            </a:extLst>
          </p:cNvPr>
          <p:cNvSpPr>
            <a:spLocks noGrp="1"/>
          </p:cNvSpPr>
          <p:nvPr>
            <p:ph sz="half" idx="2"/>
          </p:nvPr>
        </p:nvSpPr>
        <p:spPr>
          <a:xfrm>
            <a:off x="677331" y="3883985"/>
            <a:ext cx="10786533" cy="1930134"/>
          </a:xfrm>
        </p:spPr>
        <p:txBody>
          <a:bodyPr>
            <a:no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Réponse attendue : impossible à savoir avec certitude</a:t>
            </a:r>
            <a:endParaRPr lang="fr-FR"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Indices possibles</a:t>
            </a:r>
          </a:p>
          <a:p>
            <a:r>
              <a:rPr lang="fr-FR" dirty="0">
                <a:latin typeface="Calibri" panose="020F0502020204030204" pitchFamily="34" charset="0"/>
                <a:ea typeface="Calibri" panose="020F0502020204030204" pitchFamily="34" charset="0"/>
                <a:cs typeface="Calibri" panose="020F0502020204030204" pitchFamily="34" charset="0"/>
              </a:rPr>
              <a:t>Réponse scientifique claire, concise, correcte</a:t>
            </a:r>
          </a:p>
          <a:p>
            <a:r>
              <a:rPr lang="fr-FR" dirty="0">
                <a:latin typeface="Calibri" panose="020F0502020204030204" pitchFamily="34" charset="0"/>
                <a:ea typeface="Calibri" panose="020F0502020204030204" pitchFamily="34" charset="0"/>
                <a:cs typeface="Calibri" panose="020F0502020204030204" pitchFamily="34" charset="0"/>
              </a:rPr>
              <a:t>Pourrait venir d’un manuel, d’un enseignant, d’un élève bon niveau ou d’une IA</a:t>
            </a:r>
          </a:p>
        </p:txBody>
      </p:sp>
      <p:sp>
        <p:nvSpPr>
          <p:cNvPr id="8" name="Espace réservé du contenu 3">
            <a:extLst>
              <a:ext uri="{FF2B5EF4-FFF2-40B4-BE49-F238E27FC236}">
                <a16:creationId xmlns:a16="http://schemas.microsoft.com/office/drawing/2014/main" id="{EC5193E9-CCB2-26BF-6DF5-11809F68DEE8}"/>
              </a:ext>
            </a:extLst>
          </p:cNvPr>
          <p:cNvSpPr txBox="1">
            <a:spLocks/>
          </p:cNvSpPr>
          <p:nvPr/>
        </p:nvSpPr>
        <p:spPr>
          <a:xfrm>
            <a:off x="677333" y="1629437"/>
            <a:ext cx="8978731" cy="2254548"/>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Réponse à une question</a:t>
            </a:r>
          </a:p>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Question : Pourquoi le ciel est-il bleu ?</a:t>
            </a:r>
            <a:endParaRPr lang="fr-FR"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fr-FR" dirty="0">
                <a:latin typeface="Calibri" panose="020F0502020204030204" pitchFamily="34" charset="0"/>
                <a:ea typeface="Calibri" panose="020F0502020204030204" pitchFamily="34" charset="0"/>
                <a:cs typeface="Calibri" panose="020F0502020204030204" pitchFamily="34" charset="0"/>
              </a:rPr>
              <a:t>Le ciel est bleu parce que la lumière du Soleil traverse l’atmosphère terrestre. Les différentes couleurs de cette lumière ne sont pas toutes diffusées de la même façon par les molécules de l’air. La lumière bleue est davantage diffusée dans toutes les directions que la lumière rouge, ce qui donne au ciel son apparence bleue pour un observateur au sol.</a:t>
            </a:r>
          </a:p>
        </p:txBody>
      </p:sp>
      <p:sp>
        <p:nvSpPr>
          <p:cNvPr id="10" name="ZoneTexte 9">
            <a:extLst>
              <a:ext uri="{FF2B5EF4-FFF2-40B4-BE49-F238E27FC236}">
                <a16:creationId xmlns:a16="http://schemas.microsoft.com/office/drawing/2014/main" id="{E1B1D311-8129-F8F0-DE1B-6DC0BF20978F}"/>
              </a:ext>
            </a:extLst>
          </p:cNvPr>
          <p:cNvSpPr txBox="1"/>
          <p:nvPr/>
        </p:nvSpPr>
        <p:spPr>
          <a:xfrm>
            <a:off x="677332" y="5814119"/>
            <a:ext cx="10786533" cy="646331"/>
          </a:xfrm>
          <a:prstGeom prst="rect">
            <a:avLst/>
          </a:prstGeom>
          <a:noFill/>
        </p:spPr>
        <p:txBody>
          <a:bodyPr wrap="square" rtlCol="0">
            <a:spAutoFit/>
          </a:bodyPr>
          <a:lstStyle/>
          <a:p>
            <a:r>
              <a:rPr lang="fr-FR" dirty="0">
                <a:latin typeface="Calibri" panose="020F0502020204030204" pitchFamily="34" charset="0"/>
                <a:ea typeface="Calibri" panose="020F0502020204030204" pitchFamily="34" charset="0"/>
                <a:cs typeface="Calibri" panose="020F0502020204030204" pitchFamily="34" charset="0"/>
              </a:rPr>
              <a:t>Ici, le plus important est de comprendre qu’un bon contenu n’est pas identifiable à coup sûr comme humain ou IA.</a:t>
            </a:r>
          </a:p>
        </p:txBody>
      </p:sp>
    </p:spTree>
    <p:extLst>
      <p:ext uri="{BB962C8B-B14F-4D97-AF65-F5344CB8AC3E}">
        <p14:creationId xmlns:p14="http://schemas.microsoft.com/office/powerpoint/2010/main" val="11645794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F3425-CBDE-AFBB-3B37-FAFB1B9E80CE}"/>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9A4CD67-682A-A7B9-A11B-63F8E0AADAA2}"/>
              </a:ext>
            </a:extLst>
          </p:cNvPr>
          <p:cNvSpPr>
            <a:spLocks noGrp="1"/>
          </p:cNvSpPr>
          <p:nvPr>
            <p:ph type="title"/>
          </p:nvPr>
        </p:nvSpPr>
        <p:spPr>
          <a:xfrm>
            <a:off x="677333" y="308637"/>
            <a:ext cx="8596668" cy="1140135"/>
          </a:xfrm>
        </p:spPr>
        <p:txBody>
          <a:bodyPr anchor="ctr"/>
          <a:lstStyle/>
          <a:p>
            <a:pPr algn="ctr"/>
            <a:r>
              <a:rPr lang="fr-FR" b="1" dirty="0">
                <a:latin typeface="Calibri" panose="020F0502020204030204" pitchFamily="34" charset="0"/>
                <a:ea typeface="Calibri" panose="020F0502020204030204" pitchFamily="34" charset="0"/>
                <a:cs typeface="Calibri" panose="020F0502020204030204" pitchFamily="34" charset="0"/>
              </a:rPr>
              <a:t>Activité : “Humain ou IA ?”</a:t>
            </a:r>
            <a:endParaRPr lang="fr-FR" dirty="0">
              <a:latin typeface="Calibri" panose="020F0502020204030204" pitchFamily="34" charset="0"/>
              <a:ea typeface="Calibri" panose="020F0502020204030204" pitchFamily="34" charset="0"/>
              <a:cs typeface="Calibri" panose="020F0502020204030204" pitchFamily="34" charset="0"/>
            </a:endParaRPr>
          </a:p>
        </p:txBody>
      </p:sp>
      <p:sp>
        <p:nvSpPr>
          <p:cNvPr id="4" name="Espace réservé du contenu 3">
            <a:extLst>
              <a:ext uri="{FF2B5EF4-FFF2-40B4-BE49-F238E27FC236}">
                <a16:creationId xmlns:a16="http://schemas.microsoft.com/office/drawing/2014/main" id="{AEAF1307-4936-2BC9-A9BA-BF1BB64EE452}"/>
              </a:ext>
            </a:extLst>
          </p:cNvPr>
          <p:cNvSpPr>
            <a:spLocks noGrp="1"/>
          </p:cNvSpPr>
          <p:nvPr>
            <p:ph sz="half" idx="2"/>
          </p:nvPr>
        </p:nvSpPr>
        <p:spPr>
          <a:xfrm>
            <a:off x="677332" y="3703321"/>
            <a:ext cx="10786533" cy="1930134"/>
          </a:xfrm>
        </p:spPr>
        <p:txBody>
          <a:bodyPr>
            <a:no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Réponse attendue : impossible à savoir avec certitude</a:t>
            </a:r>
            <a:endParaRPr lang="fr-FR"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Indices possibles</a:t>
            </a:r>
          </a:p>
          <a:p>
            <a:r>
              <a:rPr lang="fr-FR" dirty="0">
                <a:latin typeface="Calibri" panose="020F0502020204030204" pitchFamily="34" charset="0"/>
                <a:ea typeface="Calibri" panose="020F0502020204030204" pitchFamily="34" charset="0"/>
                <a:cs typeface="Calibri" panose="020F0502020204030204" pitchFamily="34" charset="0"/>
              </a:rPr>
              <a:t>Texte exact, simple et informatif</a:t>
            </a:r>
          </a:p>
          <a:p>
            <a:r>
              <a:rPr lang="fr-FR" dirty="0">
                <a:latin typeface="Calibri" panose="020F0502020204030204" pitchFamily="34" charset="0"/>
                <a:ea typeface="Calibri" panose="020F0502020204030204" pitchFamily="34" charset="0"/>
                <a:cs typeface="Calibri" panose="020F0502020204030204" pitchFamily="34" charset="0"/>
              </a:rPr>
              <a:t>Ton neutre</a:t>
            </a:r>
          </a:p>
          <a:p>
            <a:r>
              <a:rPr lang="fr-FR" dirty="0">
                <a:latin typeface="Calibri" panose="020F0502020204030204" pitchFamily="34" charset="0"/>
                <a:ea typeface="Calibri" panose="020F0502020204030204" pitchFamily="34" charset="0"/>
                <a:cs typeface="Calibri" panose="020F0502020204030204" pitchFamily="34" charset="0"/>
              </a:rPr>
              <a:t>Pourrait avoir été écrit par un humain ou généré par IA</a:t>
            </a:r>
          </a:p>
        </p:txBody>
      </p:sp>
      <p:sp>
        <p:nvSpPr>
          <p:cNvPr id="8" name="Espace réservé du contenu 3">
            <a:extLst>
              <a:ext uri="{FF2B5EF4-FFF2-40B4-BE49-F238E27FC236}">
                <a16:creationId xmlns:a16="http://schemas.microsoft.com/office/drawing/2014/main" id="{7E283801-EA16-32E0-02B1-9FB3623F21E8}"/>
              </a:ext>
            </a:extLst>
          </p:cNvPr>
          <p:cNvSpPr txBox="1">
            <a:spLocks/>
          </p:cNvSpPr>
          <p:nvPr/>
        </p:nvSpPr>
        <p:spPr>
          <a:xfrm>
            <a:off x="677333" y="1629437"/>
            <a:ext cx="8987875" cy="193013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Réponse à une question</a:t>
            </a:r>
          </a:p>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Question : Pourquoi faut-il dormir ?</a:t>
            </a:r>
            <a:endParaRPr lang="fr-FR"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fr-FR" dirty="0">
                <a:latin typeface="Calibri" panose="020F0502020204030204" pitchFamily="34" charset="0"/>
                <a:ea typeface="Calibri" panose="020F0502020204030204" pitchFamily="34" charset="0"/>
                <a:cs typeface="Calibri" panose="020F0502020204030204" pitchFamily="34" charset="0"/>
              </a:rPr>
              <a:t>Dormir est indispensable pour permettre au cerveau et au corps de récupérer. Pendant le sommeil, l’organisme trie des informations, consolide certains apprentissages et participe à l’équilibre général de la santé. Un manque de sommeil peut nuire à la mémoire, à l’attention et à l’humeur.</a:t>
            </a:r>
          </a:p>
        </p:txBody>
      </p:sp>
      <p:sp>
        <p:nvSpPr>
          <p:cNvPr id="10" name="ZoneTexte 9">
            <a:extLst>
              <a:ext uri="{FF2B5EF4-FFF2-40B4-BE49-F238E27FC236}">
                <a16:creationId xmlns:a16="http://schemas.microsoft.com/office/drawing/2014/main" id="{88238BE4-81AC-54E2-456F-E687B6F92869}"/>
              </a:ext>
            </a:extLst>
          </p:cNvPr>
          <p:cNvSpPr txBox="1"/>
          <p:nvPr/>
        </p:nvSpPr>
        <p:spPr>
          <a:xfrm>
            <a:off x="677332" y="5814119"/>
            <a:ext cx="10786533" cy="369332"/>
          </a:xfrm>
          <a:prstGeom prst="rect">
            <a:avLst/>
          </a:prstGeom>
          <a:noFill/>
        </p:spPr>
        <p:txBody>
          <a:bodyPr wrap="square" rtlCol="0">
            <a:spAutoFit/>
          </a:bodyPr>
          <a:lstStyle/>
          <a:p>
            <a:r>
              <a:rPr lang="fr-FR" dirty="0">
                <a:latin typeface="Calibri" panose="020F0502020204030204" pitchFamily="34" charset="0"/>
                <a:ea typeface="Calibri" panose="020F0502020204030204" pitchFamily="34" charset="0"/>
                <a:cs typeface="Calibri" panose="020F0502020204030204" pitchFamily="34" charset="0"/>
              </a:rPr>
              <a:t>Très bonne occasion de montrer que la question n’est pas seulement “qui l’a écrit ?”, mais aussi “est-ce fiable ?”.</a:t>
            </a:r>
          </a:p>
        </p:txBody>
      </p:sp>
    </p:spTree>
    <p:extLst>
      <p:ext uri="{BB962C8B-B14F-4D97-AF65-F5344CB8AC3E}">
        <p14:creationId xmlns:p14="http://schemas.microsoft.com/office/powerpoint/2010/main" val="7252737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8C2684-0AD5-3BDE-BA77-4B78A6CB0F5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4B60B0F-8380-0E7F-E778-36B0DD94446C}"/>
              </a:ext>
            </a:extLst>
          </p:cNvPr>
          <p:cNvSpPr>
            <a:spLocks noGrp="1"/>
          </p:cNvSpPr>
          <p:nvPr>
            <p:ph type="title"/>
          </p:nvPr>
        </p:nvSpPr>
        <p:spPr>
          <a:xfrm>
            <a:off x="677333" y="308637"/>
            <a:ext cx="8596668" cy="1140135"/>
          </a:xfrm>
        </p:spPr>
        <p:txBody>
          <a:bodyPr anchor="ctr"/>
          <a:lstStyle/>
          <a:p>
            <a:pPr algn="ctr"/>
            <a:r>
              <a:rPr lang="fr-FR" b="1" dirty="0">
                <a:latin typeface="Calibri" panose="020F0502020204030204" pitchFamily="34" charset="0"/>
                <a:ea typeface="Calibri" panose="020F0502020204030204" pitchFamily="34" charset="0"/>
                <a:cs typeface="Calibri" panose="020F0502020204030204" pitchFamily="34" charset="0"/>
              </a:rPr>
              <a:t>Activité : “Humain ou IA ?”</a:t>
            </a:r>
            <a:endParaRPr lang="fr-FR" dirty="0">
              <a:latin typeface="Calibri" panose="020F0502020204030204" pitchFamily="34" charset="0"/>
              <a:ea typeface="Calibri" panose="020F0502020204030204" pitchFamily="34" charset="0"/>
              <a:cs typeface="Calibri" panose="020F0502020204030204" pitchFamily="34" charset="0"/>
            </a:endParaRPr>
          </a:p>
        </p:txBody>
      </p:sp>
      <p:sp>
        <p:nvSpPr>
          <p:cNvPr id="4" name="Espace réservé du contenu 3">
            <a:extLst>
              <a:ext uri="{FF2B5EF4-FFF2-40B4-BE49-F238E27FC236}">
                <a16:creationId xmlns:a16="http://schemas.microsoft.com/office/drawing/2014/main" id="{8D2ED43A-15F8-D746-27C4-30B3BA71656D}"/>
              </a:ext>
            </a:extLst>
          </p:cNvPr>
          <p:cNvSpPr>
            <a:spLocks noGrp="1"/>
          </p:cNvSpPr>
          <p:nvPr>
            <p:ph sz="half" idx="2"/>
          </p:nvPr>
        </p:nvSpPr>
        <p:spPr>
          <a:xfrm>
            <a:off x="677332" y="3703321"/>
            <a:ext cx="10786533" cy="1930134"/>
          </a:xfrm>
        </p:spPr>
        <p:txBody>
          <a:bodyPr>
            <a:no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Réponse attendue : plutôt IA / système automatisé</a:t>
            </a:r>
            <a:endParaRPr lang="fr-FR"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Indices possibles</a:t>
            </a:r>
          </a:p>
          <a:p>
            <a:r>
              <a:rPr lang="fr-FR" dirty="0">
                <a:latin typeface="Calibri" panose="020F0502020204030204" pitchFamily="34" charset="0"/>
                <a:ea typeface="Calibri" panose="020F0502020204030204" pitchFamily="34" charset="0"/>
                <a:cs typeface="Calibri" panose="020F0502020204030204" pitchFamily="34" charset="0"/>
              </a:rPr>
              <a:t>Personnalisation basée sur l’historique</a:t>
            </a:r>
          </a:p>
          <a:p>
            <a:r>
              <a:rPr lang="fr-FR" dirty="0">
                <a:latin typeface="Calibri" panose="020F0502020204030204" pitchFamily="34" charset="0"/>
                <a:ea typeface="Calibri" panose="020F0502020204030204" pitchFamily="34" charset="0"/>
                <a:cs typeface="Calibri" panose="020F0502020204030204" pitchFamily="34" charset="0"/>
              </a:rPr>
              <a:t>Structure typique de recommandation algorithmique</a:t>
            </a:r>
          </a:p>
          <a:p>
            <a:r>
              <a:rPr lang="fr-FR" dirty="0">
                <a:latin typeface="Calibri" panose="020F0502020204030204" pitchFamily="34" charset="0"/>
                <a:ea typeface="Calibri" panose="020F0502020204030204" pitchFamily="34" charset="0"/>
                <a:cs typeface="Calibri" panose="020F0502020204030204" pitchFamily="34" charset="0"/>
              </a:rPr>
              <a:t>Formulation proche des plateformes</a:t>
            </a:r>
          </a:p>
        </p:txBody>
      </p:sp>
      <p:sp>
        <p:nvSpPr>
          <p:cNvPr id="8" name="Espace réservé du contenu 3">
            <a:extLst>
              <a:ext uri="{FF2B5EF4-FFF2-40B4-BE49-F238E27FC236}">
                <a16:creationId xmlns:a16="http://schemas.microsoft.com/office/drawing/2014/main" id="{9738C09A-9C2D-0AAC-3224-05195ED7491A}"/>
              </a:ext>
            </a:extLst>
          </p:cNvPr>
          <p:cNvSpPr txBox="1">
            <a:spLocks/>
          </p:cNvSpPr>
          <p:nvPr/>
        </p:nvSpPr>
        <p:spPr>
          <a:xfrm>
            <a:off x="677333" y="1629437"/>
            <a:ext cx="8978731" cy="193013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Recommandation typique de plateforme</a:t>
            </a:r>
          </a:p>
          <a:p>
            <a:pPr marL="0" indent="0">
              <a:buNone/>
            </a:pPr>
            <a:r>
              <a:rPr lang="fr-FR" dirty="0">
                <a:latin typeface="Calibri" panose="020F0502020204030204" pitchFamily="34" charset="0"/>
                <a:ea typeface="Calibri" panose="020F0502020204030204" pitchFamily="34" charset="0"/>
                <a:cs typeface="Calibri" panose="020F0502020204030204" pitchFamily="34" charset="0"/>
              </a:rPr>
              <a:t>Parce que vous avez regardé plusieurs vidéos sur le dessin numérique et les animations 3D, nous vous proposons cette nouvelle sélection de contenus susceptibles de vous intéresser : tutoriels de « </a:t>
            </a:r>
            <a:r>
              <a:rPr lang="fr-FR" dirty="0" err="1">
                <a:latin typeface="Calibri" panose="020F0502020204030204" pitchFamily="34" charset="0"/>
                <a:ea typeface="Calibri" panose="020F0502020204030204" pitchFamily="34" charset="0"/>
                <a:cs typeface="Calibri" panose="020F0502020204030204" pitchFamily="34" charset="0"/>
              </a:rPr>
              <a:t>character</a:t>
            </a:r>
            <a:r>
              <a:rPr lang="fr-FR" dirty="0">
                <a:latin typeface="Calibri" panose="020F0502020204030204" pitchFamily="34" charset="0"/>
                <a:ea typeface="Calibri" panose="020F0502020204030204" pitchFamily="34" charset="0"/>
                <a:cs typeface="Calibri" panose="020F0502020204030204" pitchFamily="34" charset="0"/>
              </a:rPr>
              <a:t> design », astuces de rendu visuel, techniques de colorisation rapide et démonstrations de logiciels créatifs.</a:t>
            </a:r>
          </a:p>
        </p:txBody>
      </p:sp>
      <p:sp>
        <p:nvSpPr>
          <p:cNvPr id="10" name="ZoneTexte 9">
            <a:extLst>
              <a:ext uri="{FF2B5EF4-FFF2-40B4-BE49-F238E27FC236}">
                <a16:creationId xmlns:a16="http://schemas.microsoft.com/office/drawing/2014/main" id="{839900E1-1EB5-5E2B-F27B-E3A19219BB7D}"/>
              </a:ext>
            </a:extLst>
          </p:cNvPr>
          <p:cNvSpPr txBox="1"/>
          <p:nvPr/>
        </p:nvSpPr>
        <p:spPr>
          <a:xfrm>
            <a:off x="677332" y="5814119"/>
            <a:ext cx="10786533" cy="646331"/>
          </a:xfrm>
          <a:prstGeom prst="rect">
            <a:avLst/>
          </a:prstGeom>
          <a:noFill/>
        </p:spPr>
        <p:txBody>
          <a:bodyPr wrap="square" rtlCol="0">
            <a:spAutoFit/>
          </a:bodyPr>
          <a:lstStyle/>
          <a:p>
            <a:r>
              <a:rPr lang="fr-FR" dirty="0">
                <a:latin typeface="Calibri" panose="020F0502020204030204" pitchFamily="34" charset="0"/>
                <a:ea typeface="Calibri" panose="020F0502020204030204" pitchFamily="34" charset="0"/>
                <a:cs typeface="Calibri" panose="020F0502020204030204" pitchFamily="34" charset="0"/>
              </a:rPr>
              <a:t>Même sans “grande IA générative”, une recommandation automatisée relève déjà d’un traitement intelligent des données.</a:t>
            </a:r>
          </a:p>
        </p:txBody>
      </p:sp>
    </p:spTree>
    <p:extLst>
      <p:ext uri="{BB962C8B-B14F-4D97-AF65-F5344CB8AC3E}">
        <p14:creationId xmlns:p14="http://schemas.microsoft.com/office/powerpoint/2010/main" val="40175269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42AE5E-18C8-E7D9-5EFC-A90E70E6AC6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F8026A0-5E3B-984C-1FE8-03C7557748E9}"/>
              </a:ext>
            </a:extLst>
          </p:cNvPr>
          <p:cNvSpPr>
            <a:spLocks noGrp="1"/>
          </p:cNvSpPr>
          <p:nvPr>
            <p:ph type="title"/>
          </p:nvPr>
        </p:nvSpPr>
        <p:spPr>
          <a:xfrm>
            <a:off x="677333" y="308637"/>
            <a:ext cx="8596668" cy="1140135"/>
          </a:xfrm>
        </p:spPr>
        <p:txBody>
          <a:bodyPr anchor="ctr"/>
          <a:lstStyle/>
          <a:p>
            <a:pPr algn="ctr"/>
            <a:r>
              <a:rPr lang="fr-FR" b="1" dirty="0">
                <a:latin typeface="Calibri" panose="020F0502020204030204" pitchFamily="34" charset="0"/>
                <a:ea typeface="Calibri" panose="020F0502020204030204" pitchFamily="34" charset="0"/>
                <a:cs typeface="Calibri" panose="020F0502020204030204" pitchFamily="34" charset="0"/>
              </a:rPr>
              <a:t>Activité : “Humain ou IA ?”</a:t>
            </a:r>
            <a:endParaRPr lang="fr-FR" dirty="0">
              <a:latin typeface="Calibri" panose="020F0502020204030204" pitchFamily="34" charset="0"/>
              <a:ea typeface="Calibri" panose="020F0502020204030204" pitchFamily="34" charset="0"/>
              <a:cs typeface="Calibri" panose="020F0502020204030204" pitchFamily="34" charset="0"/>
            </a:endParaRPr>
          </a:p>
        </p:txBody>
      </p:sp>
      <p:sp>
        <p:nvSpPr>
          <p:cNvPr id="4" name="Espace réservé du contenu 3">
            <a:extLst>
              <a:ext uri="{FF2B5EF4-FFF2-40B4-BE49-F238E27FC236}">
                <a16:creationId xmlns:a16="http://schemas.microsoft.com/office/drawing/2014/main" id="{3F95F544-CC36-AD30-4EA3-DB3E7B4E6B5C}"/>
              </a:ext>
            </a:extLst>
          </p:cNvPr>
          <p:cNvSpPr>
            <a:spLocks noGrp="1"/>
          </p:cNvSpPr>
          <p:nvPr>
            <p:ph sz="half" idx="2"/>
          </p:nvPr>
        </p:nvSpPr>
        <p:spPr>
          <a:xfrm>
            <a:off x="677331" y="3280480"/>
            <a:ext cx="10786533" cy="2533639"/>
          </a:xfrm>
        </p:spPr>
        <p:txBody>
          <a:bodyPr>
            <a:noAutofit/>
          </a:body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Réponse attendue : plutôt humain</a:t>
            </a:r>
            <a:endParaRPr lang="fr-FR" dirty="0">
              <a:latin typeface="Calibri" panose="020F0502020204030204" pitchFamily="34" charset="0"/>
              <a:ea typeface="Calibri" panose="020F0502020204030204" pitchFamily="34" charset="0"/>
              <a:cs typeface="Calibri" panose="020F0502020204030204" pitchFamily="34" charset="0"/>
            </a:endParaRPr>
          </a:p>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Indices possibles</a:t>
            </a:r>
          </a:p>
          <a:p>
            <a:r>
              <a:rPr lang="fr-FR" dirty="0">
                <a:latin typeface="Calibri" panose="020F0502020204030204" pitchFamily="34" charset="0"/>
                <a:ea typeface="Calibri" panose="020F0502020204030204" pitchFamily="34" charset="0"/>
                <a:cs typeface="Calibri" panose="020F0502020204030204" pitchFamily="34" charset="0"/>
              </a:rPr>
              <a:t>Ton familier</a:t>
            </a:r>
          </a:p>
          <a:p>
            <a:r>
              <a:rPr lang="fr-FR" dirty="0">
                <a:latin typeface="Calibri" panose="020F0502020204030204" pitchFamily="34" charset="0"/>
                <a:ea typeface="Calibri" panose="020F0502020204030204" pitchFamily="34" charset="0"/>
                <a:cs typeface="Calibri" panose="020F0502020204030204" pitchFamily="34" charset="0"/>
              </a:rPr>
              <a:t>Avis nuancé</a:t>
            </a:r>
          </a:p>
          <a:p>
            <a:r>
              <a:rPr lang="fr-FR" dirty="0">
                <a:latin typeface="Calibri" panose="020F0502020204030204" pitchFamily="34" charset="0"/>
                <a:ea typeface="Calibri" panose="020F0502020204030204" pitchFamily="34" charset="0"/>
                <a:cs typeface="Calibri" panose="020F0502020204030204" pitchFamily="34" charset="0"/>
              </a:rPr>
              <a:t>Jugement personnel</a:t>
            </a:r>
          </a:p>
          <a:p>
            <a:r>
              <a:rPr lang="fr-FR" dirty="0">
                <a:latin typeface="Calibri" panose="020F0502020204030204" pitchFamily="34" charset="0"/>
                <a:ea typeface="Calibri" panose="020F0502020204030204" pitchFamily="34" charset="0"/>
                <a:cs typeface="Calibri" panose="020F0502020204030204" pitchFamily="34" charset="0"/>
              </a:rPr>
              <a:t>Impression de conseil subjectif</a:t>
            </a:r>
          </a:p>
        </p:txBody>
      </p:sp>
      <p:sp>
        <p:nvSpPr>
          <p:cNvPr id="8" name="Espace réservé du contenu 3">
            <a:extLst>
              <a:ext uri="{FF2B5EF4-FFF2-40B4-BE49-F238E27FC236}">
                <a16:creationId xmlns:a16="http://schemas.microsoft.com/office/drawing/2014/main" id="{C28E7FF2-D634-C97D-3F2D-B9A85455BB8D}"/>
              </a:ext>
            </a:extLst>
          </p:cNvPr>
          <p:cNvSpPr txBox="1">
            <a:spLocks/>
          </p:cNvSpPr>
          <p:nvPr/>
        </p:nvSpPr>
        <p:spPr>
          <a:xfrm>
            <a:off x="677333" y="1629437"/>
            <a:ext cx="8987875" cy="1289715"/>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fr-FR" b="1" dirty="0">
                <a:latin typeface="Calibri" panose="020F0502020204030204" pitchFamily="34" charset="0"/>
                <a:ea typeface="Calibri" panose="020F0502020204030204" pitchFamily="34" charset="0"/>
                <a:cs typeface="Calibri" panose="020F0502020204030204" pitchFamily="34" charset="0"/>
              </a:rPr>
              <a:t>Recommandation typique de plateforme</a:t>
            </a:r>
          </a:p>
          <a:p>
            <a:pPr marL="0" indent="0">
              <a:buNone/>
            </a:pPr>
            <a:r>
              <a:rPr lang="fr-FR" dirty="0">
                <a:latin typeface="Calibri" panose="020F0502020204030204" pitchFamily="34" charset="0"/>
                <a:ea typeface="Calibri" panose="020F0502020204030204" pitchFamily="34" charset="0"/>
                <a:cs typeface="Calibri" panose="020F0502020204030204" pitchFamily="34" charset="0"/>
              </a:rPr>
              <a:t>Salut ! Comme tu sembles aimer les films policiers un peu tendus, je te conseille aussi cette série. Elle est moins connue, mais l’ambiance est vraiment prenante, les personnages sont bien écrits et le suspense monte doucement. Ce n’est pas spectaculaire, mais ça marche très bien.</a:t>
            </a:r>
          </a:p>
        </p:txBody>
      </p:sp>
      <p:sp>
        <p:nvSpPr>
          <p:cNvPr id="10" name="ZoneTexte 9">
            <a:extLst>
              <a:ext uri="{FF2B5EF4-FFF2-40B4-BE49-F238E27FC236}">
                <a16:creationId xmlns:a16="http://schemas.microsoft.com/office/drawing/2014/main" id="{43A9F2D6-A929-7A2D-C9B2-3D21749B4AB0}"/>
              </a:ext>
            </a:extLst>
          </p:cNvPr>
          <p:cNvSpPr txBox="1"/>
          <p:nvPr/>
        </p:nvSpPr>
        <p:spPr>
          <a:xfrm>
            <a:off x="677332" y="5814119"/>
            <a:ext cx="10786533" cy="369332"/>
          </a:xfrm>
          <a:prstGeom prst="rect">
            <a:avLst/>
          </a:prstGeom>
          <a:noFill/>
        </p:spPr>
        <p:txBody>
          <a:bodyPr wrap="square" rtlCol="0">
            <a:spAutoFit/>
          </a:bodyPr>
          <a:lstStyle/>
          <a:p>
            <a:r>
              <a:rPr lang="fr-FR" dirty="0">
                <a:latin typeface="Calibri" panose="020F0502020204030204" pitchFamily="34" charset="0"/>
                <a:ea typeface="Calibri" panose="020F0502020204030204" pitchFamily="34" charset="0"/>
                <a:cs typeface="Calibri" panose="020F0502020204030204" pitchFamily="34" charset="0"/>
              </a:rPr>
              <a:t>Cela ressemble davantage à un ami ou à un critique qu’à une plateforme.</a:t>
            </a:r>
          </a:p>
        </p:txBody>
      </p:sp>
    </p:spTree>
    <p:extLst>
      <p:ext uri="{BB962C8B-B14F-4D97-AF65-F5344CB8AC3E}">
        <p14:creationId xmlns:p14="http://schemas.microsoft.com/office/powerpoint/2010/main" val="1648845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E68A8E-01CA-725C-D3B8-EDC7D191B65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DFF48FAA-CC23-829C-5690-0A8228DE3819}"/>
              </a:ext>
            </a:extLst>
          </p:cNvPr>
          <p:cNvSpPr>
            <a:spLocks noGrp="1"/>
          </p:cNvSpPr>
          <p:nvPr>
            <p:ph type="title"/>
          </p:nvPr>
        </p:nvSpPr>
        <p:spPr>
          <a:xfrm>
            <a:off x="677333" y="308637"/>
            <a:ext cx="8596668" cy="1140135"/>
          </a:xfrm>
        </p:spPr>
        <p:txBody>
          <a:bodyPr anchor="ctr"/>
          <a:lstStyle/>
          <a:p>
            <a:pPr algn="ctr"/>
            <a:r>
              <a:rPr lang="fr-FR" b="1" dirty="0">
                <a:latin typeface="Calibri" panose="020F0502020204030204" pitchFamily="34" charset="0"/>
                <a:ea typeface="Calibri" panose="020F0502020204030204" pitchFamily="34" charset="0"/>
                <a:cs typeface="Calibri" panose="020F0502020204030204" pitchFamily="34" charset="0"/>
              </a:rPr>
              <a:t>Activité : “Humain ou IA ?”</a:t>
            </a:r>
            <a:endParaRPr lang="fr-FR" dirty="0">
              <a:latin typeface="Calibri" panose="020F0502020204030204" pitchFamily="34" charset="0"/>
              <a:ea typeface="Calibri" panose="020F0502020204030204" pitchFamily="34" charset="0"/>
              <a:cs typeface="Calibri" panose="020F0502020204030204" pitchFamily="34" charset="0"/>
            </a:endParaRPr>
          </a:p>
        </p:txBody>
      </p:sp>
      <p:sp>
        <p:nvSpPr>
          <p:cNvPr id="4" name="Espace réservé du contenu 3">
            <a:extLst>
              <a:ext uri="{FF2B5EF4-FFF2-40B4-BE49-F238E27FC236}">
                <a16:creationId xmlns:a16="http://schemas.microsoft.com/office/drawing/2014/main" id="{EE8B301A-3101-C201-5CE3-785CDE78FE2B}"/>
              </a:ext>
            </a:extLst>
          </p:cNvPr>
          <p:cNvSpPr>
            <a:spLocks noGrp="1"/>
          </p:cNvSpPr>
          <p:nvPr>
            <p:ph sz="half" idx="2"/>
          </p:nvPr>
        </p:nvSpPr>
        <p:spPr>
          <a:xfrm>
            <a:off x="677331" y="1977114"/>
            <a:ext cx="10786533" cy="2903772"/>
          </a:xfrm>
        </p:spPr>
        <p:txBody>
          <a:bodyPr>
            <a:noAutofit/>
          </a:bodyPr>
          <a:lstStyle/>
          <a:p>
            <a:pPr marL="0" indent="0">
              <a:buNone/>
            </a:pPr>
            <a:r>
              <a:rPr lang="fr-FR" dirty="0">
                <a:latin typeface="Calibri" panose="020F0502020204030204" pitchFamily="34" charset="0"/>
                <a:ea typeface="Calibri" panose="020F0502020204030204" pitchFamily="34" charset="0"/>
                <a:cs typeface="Calibri" panose="020F0502020204030204" pitchFamily="34" charset="0"/>
              </a:rPr>
              <a:t>En conclusion:</a:t>
            </a:r>
          </a:p>
          <a:p>
            <a:pPr marL="0" indent="0">
              <a:buNone/>
            </a:pPr>
            <a:endParaRPr lang="fr-FR" dirty="0">
              <a:latin typeface="Calibri" panose="020F0502020204030204" pitchFamily="34" charset="0"/>
              <a:ea typeface="Calibri" panose="020F0502020204030204" pitchFamily="34" charset="0"/>
              <a:cs typeface="Calibri" panose="020F0502020204030204" pitchFamily="34" charset="0"/>
            </a:endParaRPr>
          </a:p>
          <a:p>
            <a:r>
              <a:rPr lang="fr-FR" dirty="0">
                <a:latin typeface="Calibri" panose="020F0502020204030204" pitchFamily="34" charset="0"/>
                <a:ea typeface="Calibri" panose="020F0502020204030204" pitchFamily="34" charset="0"/>
                <a:cs typeface="Calibri" panose="020F0502020204030204" pitchFamily="34" charset="0"/>
              </a:rPr>
              <a:t>Un texte </a:t>
            </a:r>
            <a:r>
              <a:rPr lang="fr-FR" b="1" dirty="0">
                <a:latin typeface="Calibri" panose="020F0502020204030204" pitchFamily="34" charset="0"/>
                <a:ea typeface="Calibri" panose="020F0502020204030204" pitchFamily="34" charset="0"/>
                <a:cs typeface="Calibri" panose="020F0502020204030204" pitchFamily="34" charset="0"/>
              </a:rPr>
              <a:t>flou, très général, très lisse</a:t>
            </a:r>
            <a:r>
              <a:rPr lang="fr-FR" dirty="0">
                <a:latin typeface="Calibri" panose="020F0502020204030204" pitchFamily="34" charset="0"/>
                <a:ea typeface="Calibri" panose="020F0502020204030204" pitchFamily="34" charset="0"/>
                <a:cs typeface="Calibri" panose="020F0502020204030204" pitchFamily="34" charset="0"/>
              </a:rPr>
              <a:t> peut faire penser à une IA</a:t>
            </a:r>
          </a:p>
          <a:p>
            <a:r>
              <a:rPr lang="fr-FR" dirty="0">
                <a:latin typeface="Calibri" panose="020F0502020204030204" pitchFamily="34" charset="0"/>
                <a:ea typeface="Calibri" panose="020F0502020204030204" pitchFamily="34" charset="0"/>
                <a:cs typeface="Calibri" panose="020F0502020204030204" pitchFamily="34" charset="0"/>
              </a:rPr>
              <a:t>Un texte </a:t>
            </a:r>
            <a:r>
              <a:rPr lang="fr-FR" b="1" dirty="0">
                <a:latin typeface="Calibri" panose="020F0502020204030204" pitchFamily="34" charset="0"/>
                <a:ea typeface="Calibri" panose="020F0502020204030204" pitchFamily="34" charset="0"/>
                <a:cs typeface="Calibri" panose="020F0502020204030204" pitchFamily="34" charset="0"/>
              </a:rPr>
              <a:t>incarné, précis, singulier</a:t>
            </a:r>
            <a:r>
              <a:rPr lang="fr-FR" dirty="0">
                <a:latin typeface="Calibri" panose="020F0502020204030204" pitchFamily="34" charset="0"/>
                <a:ea typeface="Calibri" panose="020F0502020204030204" pitchFamily="34" charset="0"/>
                <a:cs typeface="Calibri" panose="020F0502020204030204" pitchFamily="34" charset="0"/>
              </a:rPr>
              <a:t> peut faire penser à un humain</a:t>
            </a:r>
          </a:p>
          <a:p>
            <a:r>
              <a:rPr lang="fr-FR" dirty="0">
                <a:latin typeface="Calibri" panose="020F0502020204030204" pitchFamily="34" charset="0"/>
                <a:ea typeface="Calibri" panose="020F0502020204030204" pitchFamily="34" charset="0"/>
                <a:cs typeface="Calibri" panose="020F0502020204030204" pitchFamily="34" charset="0"/>
              </a:rPr>
              <a:t>Mais </a:t>
            </a:r>
            <a:r>
              <a:rPr lang="fr-FR" b="1" dirty="0">
                <a:latin typeface="Calibri" panose="020F0502020204030204" pitchFamily="34" charset="0"/>
                <a:ea typeface="Calibri" panose="020F0502020204030204" pitchFamily="34" charset="0"/>
                <a:cs typeface="Calibri" panose="020F0502020204030204" pitchFamily="34" charset="0"/>
              </a:rPr>
              <a:t>ce ne sont pas des preuves absolues</a:t>
            </a:r>
            <a:endParaRPr lang="fr-FR" dirty="0">
              <a:latin typeface="Calibri" panose="020F0502020204030204" pitchFamily="34" charset="0"/>
              <a:ea typeface="Calibri" panose="020F0502020204030204" pitchFamily="34" charset="0"/>
              <a:cs typeface="Calibri" panose="020F0502020204030204" pitchFamily="34" charset="0"/>
            </a:endParaRPr>
          </a:p>
          <a:p>
            <a:r>
              <a:rPr lang="fr-FR" dirty="0">
                <a:latin typeface="Calibri" panose="020F0502020204030204" pitchFamily="34" charset="0"/>
                <a:ea typeface="Calibri" panose="020F0502020204030204" pitchFamily="34" charset="0"/>
                <a:cs typeface="Calibri" panose="020F0502020204030204" pitchFamily="34" charset="0"/>
              </a:rPr>
              <a:t>Le vrai réflexe n’est pas de jouer au détective en permanence</a:t>
            </a:r>
          </a:p>
          <a:p>
            <a:r>
              <a:rPr lang="fr-FR" dirty="0">
                <a:latin typeface="Calibri" panose="020F0502020204030204" pitchFamily="34" charset="0"/>
                <a:ea typeface="Calibri" panose="020F0502020204030204" pitchFamily="34" charset="0"/>
                <a:cs typeface="Calibri" panose="020F0502020204030204" pitchFamily="34" charset="0"/>
              </a:rPr>
              <a:t>Le vrai réflexe est : </a:t>
            </a:r>
            <a:r>
              <a:rPr lang="fr-FR" b="1" dirty="0">
                <a:latin typeface="Calibri" panose="020F0502020204030204" pitchFamily="34" charset="0"/>
                <a:ea typeface="Calibri" panose="020F0502020204030204" pitchFamily="34" charset="0"/>
                <a:cs typeface="Calibri" panose="020F0502020204030204" pitchFamily="34" charset="0"/>
              </a:rPr>
              <a:t>je garde un regard critique et je vérifie</a:t>
            </a:r>
            <a:endParaRPr lang="fr-FR" dirty="0">
              <a:latin typeface="Calibri" panose="020F0502020204030204" pitchFamily="34" charset="0"/>
              <a:ea typeface="Calibri" panose="020F0502020204030204" pitchFamily="34" charset="0"/>
              <a:cs typeface="Calibri" panose="020F0502020204030204" pitchFamily="34" charset="0"/>
            </a:endParaRPr>
          </a:p>
        </p:txBody>
      </p:sp>
      <p:sp>
        <p:nvSpPr>
          <p:cNvPr id="10" name="ZoneTexte 9">
            <a:extLst>
              <a:ext uri="{FF2B5EF4-FFF2-40B4-BE49-F238E27FC236}">
                <a16:creationId xmlns:a16="http://schemas.microsoft.com/office/drawing/2014/main" id="{F943635B-FD9F-A0F4-8214-99B654B6D3CC}"/>
              </a:ext>
            </a:extLst>
          </p:cNvPr>
          <p:cNvSpPr txBox="1"/>
          <p:nvPr/>
        </p:nvSpPr>
        <p:spPr>
          <a:xfrm>
            <a:off x="677331" y="5409228"/>
            <a:ext cx="8596668" cy="923330"/>
          </a:xfrm>
          <a:prstGeom prst="rect">
            <a:avLst/>
          </a:prstGeom>
          <a:noFill/>
        </p:spPr>
        <p:txBody>
          <a:bodyPr wrap="square" rtlCol="0" anchor="ctr">
            <a:spAutoFit/>
          </a:bodyPr>
          <a:lstStyle/>
          <a:p>
            <a:pPr algn="ctr"/>
            <a:r>
              <a:rPr lang="fr-FR" dirty="0">
                <a:latin typeface="Calibri" panose="020F0502020204030204" pitchFamily="34" charset="0"/>
                <a:ea typeface="Calibri" panose="020F0502020204030204" pitchFamily="34" charset="0"/>
                <a:cs typeface="Calibri" panose="020F0502020204030204" pitchFamily="34" charset="0"/>
              </a:rPr>
              <a:t>Le problème n’est pas seulement de savoir si un texte vient d’un humain ou d’une IA. Le problème, c’est de savoir si on le lit avec assez d’intelligence pour ne pas se laisser impressionner trop vite.</a:t>
            </a:r>
          </a:p>
        </p:txBody>
      </p:sp>
    </p:spTree>
    <p:extLst>
      <p:ext uri="{BB962C8B-B14F-4D97-AF65-F5344CB8AC3E}">
        <p14:creationId xmlns:p14="http://schemas.microsoft.com/office/powerpoint/2010/main" val="16499128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CD26C-BDF2-38DC-3420-30C5099AF266}"/>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70081CC-E2D3-7765-F6A5-800A075D0809}"/>
              </a:ext>
            </a:extLst>
          </p:cNvPr>
          <p:cNvSpPr>
            <a:spLocks noGrp="1"/>
          </p:cNvSpPr>
          <p:nvPr>
            <p:ph type="title"/>
          </p:nvPr>
        </p:nvSpPr>
        <p:spPr>
          <a:xfrm>
            <a:off x="677333" y="308637"/>
            <a:ext cx="8596668" cy="1140135"/>
          </a:xfrm>
        </p:spPr>
        <p:txBody>
          <a:bodyPr anchor="ctr"/>
          <a:lstStyle/>
          <a:p>
            <a:pPr algn="ctr"/>
            <a:r>
              <a:rPr lang="fr-FR" b="1" dirty="0">
                <a:latin typeface="Calibri" panose="020F0502020204030204" pitchFamily="34" charset="0"/>
                <a:ea typeface="Calibri" panose="020F0502020204030204" pitchFamily="34" charset="0"/>
                <a:cs typeface="Calibri" panose="020F0502020204030204" pitchFamily="34" charset="0"/>
              </a:rPr>
              <a:t>Activité : “Humain ou IA ?”</a:t>
            </a:r>
            <a:endParaRPr lang="fr-FR" dirty="0">
              <a:latin typeface="Calibri" panose="020F0502020204030204" pitchFamily="34" charset="0"/>
              <a:ea typeface="Calibri" panose="020F0502020204030204" pitchFamily="34" charset="0"/>
              <a:cs typeface="Calibri" panose="020F0502020204030204" pitchFamily="34" charset="0"/>
            </a:endParaRPr>
          </a:p>
        </p:txBody>
      </p:sp>
      <p:sp>
        <p:nvSpPr>
          <p:cNvPr id="4" name="Espace réservé du contenu 3">
            <a:extLst>
              <a:ext uri="{FF2B5EF4-FFF2-40B4-BE49-F238E27FC236}">
                <a16:creationId xmlns:a16="http://schemas.microsoft.com/office/drawing/2014/main" id="{327BF8E1-E853-BB27-4145-81A54431EF78}"/>
              </a:ext>
            </a:extLst>
          </p:cNvPr>
          <p:cNvSpPr>
            <a:spLocks noGrp="1"/>
          </p:cNvSpPr>
          <p:nvPr>
            <p:ph sz="half" idx="2"/>
          </p:nvPr>
        </p:nvSpPr>
        <p:spPr>
          <a:xfrm>
            <a:off x="677333" y="2479029"/>
            <a:ext cx="9125035" cy="1899942"/>
          </a:xfrm>
        </p:spPr>
        <p:txBody>
          <a:bodyPr anchor="ctr">
            <a:noAutofit/>
          </a:bodyPr>
          <a:lstStyle/>
          <a:p>
            <a:pPr marL="0" indent="0" algn="ctr">
              <a:buNone/>
            </a:pPr>
            <a:r>
              <a:rPr lang="fr-FR" sz="3200" b="1" dirty="0">
                <a:latin typeface="Calibri" panose="020F0502020204030204" pitchFamily="34" charset="0"/>
                <a:ea typeface="Calibri" panose="020F0502020204030204" pitchFamily="34" charset="0"/>
                <a:cs typeface="Calibri" panose="020F0502020204030204" pitchFamily="34" charset="0"/>
              </a:rPr>
              <a:t>Selon vous, peut-on toujours faire la différence entre un texte humain et un texte généré ?</a:t>
            </a:r>
          </a:p>
          <a:p>
            <a:pPr marL="0" indent="0" algn="ctr">
              <a:buNone/>
            </a:pPr>
            <a:r>
              <a:rPr lang="fr-FR" sz="3200" b="1" dirty="0">
                <a:latin typeface="Calibri" panose="020F0502020204030204" pitchFamily="34" charset="0"/>
                <a:ea typeface="Calibri" panose="020F0502020204030204" pitchFamily="34" charset="0"/>
                <a:cs typeface="Calibri" panose="020F0502020204030204" pitchFamily="34" charset="0"/>
              </a:rPr>
              <a:t>Pourquoi ?</a:t>
            </a:r>
            <a:endParaRPr lang="fr-FR" sz="3200" dirty="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865257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45CB1-91BF-EA69-A345-44CAD84485F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649761D3-A62A-AB1E-83A3-E49C4FF01009}"/>
              </a:ext>
            </a:extLst>
          </p:cNvPr>
          <p:cNvSpPr>
            <a:spLocks noGrp="1"/>
          </p:cNvSpPr>
          <p:nvPr>
            <p:ph type="title"/>
          </p:nvPr>
        </p:nvSpPr>
        <p:spPr>
          <a:xfrm>
            <a:off x="677333" y="308637"/>
            <a:ext cx="8596668" cy="1140135"/>
          </a:xfrm>
        </p:spPr>
        <p:txBody>
          <a:bodyPr anchor="ctr"/>
          <a:lstStyle/>
          <a:p>
            <a:pPr algn="ctr"/>
            <a:r>
              <a:rPr lang="fr-FR" b="1" dirty="0">
                <a:latin typeface="Calibri" panose="020F0502020204030204" pitchFamily="34" charset="0"/>
                <a:ea typeface="Calibri" panose="020F0502020204030204" pitchFamily="34" charset="0"/>
                <a:cs typeface="Calibri" panose="020F0502020204030204" pitchFamily="34" charset="0"/>
              </a:rPr>
              <a:t>Mot de la fin</a:t>
            </a:r>
            <a:endParaRPr lang="fr-FR" dirty="0">
              <a:latin typeface="Calibri" panose="020F0502020204030204" pitchFamily="34" charset="0"/>
              <a:ea typeface="Calibri" panose="020F0502020204030204" pitchFamily="34" charset="0"/>
              <a:cs typeface="Calibri" panose="020F0502020204030204" pitchFamily="34" charset="0"/>
            </a:endParaRPr>
          </a:p>
        </p:txBody>
      </p:sp>
      <p:sp>
        <p:nvSpPr>
          <p:cNvPr id="4" name="Espace réservé du contenu 3">
            <a:extLst>
              <a:ext uri="{FF2B5EF4-FFF2-40B4-BE49-F238E27FC236}">
                <a16:creationId xmlns:a16="http://schemas.microsoft.com/office/drawing/2014/main" id="{4CE68D97-BF6B-F94F-3807-902E15E6CB1D}"/>
              </a:ext>
            </a:extLst>
          </p:cNvPr>
          <p:cNvSpPr>
            <a:spLocks noGrp="1"/>
          </p:cNvSpPr>
          <p:nvPr>
            <p:ph sz="half" idx="2"/>
          </p:nvPr>
        </p:nvSpPr>
        <p:spPr>
          <a:xfrm>
            <a:off x="677333" y="1801368"/>
            <a:ext cx="8987875" cy="3392424"/>
          </a:xfrm>
        </p:spPr>
        <p:txBody>
          <a:bodyPr anchor="ctr">
            <a:noAutofit/>
          </a:bodyPr>
          <a:lstStyle/>
          <a:p>
            <a:pPr marL="0" indent="0" algn="ctr">
              <a:buNone/>
            </a:pPr>
            <a:r>
              <a:rPr lang="fr-FR" sz="2800" dirty="0">
                <a:latin typeface="Calibri" panose="020F0502020204030204" pitchFamily="34" charset="0"/>
                <a:ea typeface="Calibri" panose="020F0502020204030204" pitchFamily="34" charset="0"/>
                <a:cs typeface="Calibri" panose="020F0502020204030204" pitchFamily="34" charset="0"/>
              </a:rPr>
              <a:t>Ne vous laissez pas impressionner par la machine.</a:t>
            </a:r>
          </a:p>
          <a:p>
            <a:pPr marL="0" indent="0" algn="ctr">
              <a:buNone/>
            </a:pPr>
            <a:r>
              <a:rPr lang="fr-FR" sz="2800" dirty="0">
                <a:latin typeface="Calibri" panose="020F0502020204030204" pitchFamily="34" charset="0"/>
                <a:ea typeface="Calibri" panose="020F0502020204030204" pitchFamily="34" charset="0"/>
                <a:cs typeface="Calibri" panose="020F0502020204030204" pitchFamily="34" charset="0"/>
              </a:rPr>
              <a:t>Regardez-la en face.</a:t>
            </a:r>
          </a:p>
          <a:p>
            <a:pPr marL="0" indent="0" algn="ctr">
              <a:buNone/>
            </a:pPr>
            <a:r>
              <a:rPr lang="fr-FR" sz="2800" dirty="0">
                <a:latin typeface="Calibri" panose="020F0502020204030204" pitchFamily="34" charset="0"/>
                <a:ea typeface="Calibri" panose="020F0502020204030204" pitchFamily="34" charset="0"/>
                <a:cs typeface="Calibri" panose="020F0502020204030204" pitchFamily="34" charset="0"/>
              </a:rPr>
              <a:t>Elle calcule vite, elle imite parfois brillamment, elle aide souvent, mais elle peut se tromper aussi.</a:t>
            </a:r>
          </a:p>
          <a:p>
            <a:pPr marL="0" indent="0" algn="ctr">
              <a:buNone/>
            </a:pPr>
            <a:r>
              <a:rPr lang="fr-FR" sz="2800" dirty="0">
                <a:latin typeface="Calibri" panose="020F0502020204030204" pitchFamily="34" charset="0"/>
                <a:ea typeface="Calibri" panose="020F0502020204030204" pitchFamily="34" charset="0"/>
                <a:cs typeface="Calibri" panose="020F0502020204030204" pitchFamily="34" charset="0"/>
              </a:rPr>
              <a:t>Ce n’est pas à elle de penser à votre place, c’est à vous de rester lucides, curieux et exigeants.</a:t>
            </a:r>
          </a:p>
        </p:txBody>
      </p:sp>
      <p:sp>
        <p:nvSpPr>
          <p:cNvPr id="3" name="ZoneTexte 2">
            <a:extLst>
              <a:ext uri="{FF2B5EF4-FFF2-40B4-BE49-F238E27FC236}">
                <a16:creationId xmlns:a16="http://schemas.microsoft.com/office/drawing/2014/main" id="{4916F251-D119-CF38-D0C5-56709DE95880}"/>
              </a:ext>
            </a:extLst>
          </p:cNvPr>
          <p:cNvSpPr txBox="1"/>
          <p:nvPr/>
        </p:nvSpPr>
        <p:spPr>
          <a:xfrm>
            <a:off x="1112327" y="5643634"/>
            <a:ext cx="7726680" cy="369332"/>
          </a:xfrm>
          <a:prstGeom prst="rect">
            <a:avLst/>
          </a:prstGeom>
          <a:noFill/>
        </p:spPr>
        <p:txBody>
          <a:bodyPr wrap="square" rtlCol="0" anchor="ctr">
            <a:spAutoFit/>
          </a:bodyPr>
          <a:lstStyle/>
          <a:p>
            <a:pPr algn="ctr"/>
            <a:r>
              <a:rPr lang="fr-FR" dirty="0">
                <a:hlinkClick r:id="rId2"/>
              </a:rPr>
              <a:t>Petite vidéo très parlante</a:t>
            </a:r>
            <a:endParaRPr lang="fr-FR" dirty="0"/>
          </a:p>
        </p:txBody>
      </p:sp>
    </p:spTree>
    <p:extLst>
      <p:ext uri="{BB962C8B-B14F-4D97-AF65-F5344CB8AC3E}">
        <p14:creationId xmlns:p14="http://schemas.microsoft.com/office/powerpoint/2010/main" val="3773919723"/>
      </p:ext>
    </p:extLst>
  </p:cSld>
  <p:clrMapOvr>
    <a:masterClrMapping/>
  </p:clrMapOvr>
</p:sld>
</file>

<file path=ppt/theme/theme1.xml><?xml version="1.0" encoding="utf-8"?>
<a:theme xmlns:a="http://schemas.openxmlformats.org/drawingml/2006/main" name="Facette">
  <a:themeElements>
    <a:clrScheme name="Facette">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te">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te">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234</TotalTime>
  <Words>2007</Words>
  <Application>Microsoft Office PowerPoint</Application>
  <PresentationFormat>Grand écran</PresentationFormat>
  <Paragraphs>205</Paragraphs>
  <Slides>23</Slides>
  <Notes>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23</vt:i4>
      </vt:variant>
    </vt:vector>
  </HeadingPairs>
  <TitlesOfParts>
    <vt:vector size="28" baseType="lpstr">
      <vt:lpstr>Arial</vt:lpstr>
      <vt:lpstr>Calibri</vt:lpstr>
      <vt:lpstr>Trebuchet MS</vt:lpstr>
      <vt:lpstr>Wingdings 3</vt:lpstr>
      <vt:lpstr>Facette</vt:lpstr>
      <vt:lpstr>Séance 34 - Qu’est-ce que l’IA ?</vt:lpstr>
      <vt:lpstr>Intention de la séance</vt:lpstr>
      <vt:lpstr>Objectifs de la séance</vt:lpstr>
      <vt:lpstr>Compétences / notions officielles visées</vt:lpstr>
      <vt:lpstr>“Qu’est-ce qu’une IA ?”</vt:lpstr>
      <vt:lpstr>Repères historiques</vt:lpstr>
      <vt:lpstr>Qu’est-ce qu’une IA ?</vt:lpstr>
      <vt:lpstr>Qu’est-ce qu’une IA ?</vt:lpstr>
      <vt:lpstr>Programme classique ou IA ?</vt:lpstr>
      <vt:lpstr>Comment fonctionne une IA ?</vt:lpstr>
      <vt:lpstr>Comment fonctionne une IA ?</vt:lpstr>
      <vt:lpstr>Éviter les confusions</vt:lpstr>
      <vt:lpstr>Activité : “Humain ou IA ?”</vt:lpstr>
      <vt:lpstr>Activité : “Humain ou IA ?”</vt:lpstr>
      <vt:lpstr>Activité : “Humain ou IA ?”</vt:lpstr>
      <vt:lpstr>Activité : “Humain ou IA ?”</vt:lpstr>
      <vt:lpstr>Activité : “Humain ou IA ?”</vt:lpstr>
      <vt:lpstr>Activité : “Humain ou IA ?”</vt:lpstr>
      <vt:lpstr>Activité : “Humain ou IA ?”</vt:lpstr>
      <vt:lpstr>Activité : “Humain ou IA ?”</vt:lpstr>
      <vt:lpstr>Activité : “Humain ou IA ?”</vt:lpstr>
      <vt:lpstr>Activité : “Humain ou IA ?”</vt:lpstr>
      <vt:lpstr>Mot de la fin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tifaine secheret</dc:creator>
  <cp:lastModifiedBy>tifaine secheret</cp:lastModifiedBy>
  <cp:revision>80</cp:revision>
  <dcterms:created xsi:type="dcterms:W3CDTF">2026-03-18T08:57:17Z</dcterms:created>
  <dcterms:modified xsi:type="dcterms:W3CDTF">2026-03-19T08:40:19Z</dcterms:modified>
</cp:coreProperties>
</file>