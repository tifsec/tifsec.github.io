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615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05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82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70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23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20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21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361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07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88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6752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30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570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547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354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471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0BCD1-3DD2-4EA5-83C1-C6B7A921BA6B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DA3111-7530-4961-BCDC-2B7C08C9F5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48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AE0DD-B8AD-FA2A-E3EA-78F138E99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404534"/>
            <a:ext cx="8972550" cy="1646302"/>
          </a:xfrm>
        </p:spPr>
        <p:txBody>
          <a:bodyPr anchor="ctr"/>
          <a:lstStyle/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Séance </a:t>
            </a:r>
            <a:r>
              <a:rPr lang="fr-F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35 -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 utiliser l’IA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ECDB236-E1E5-A5BA-AD59-FA903ADA5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4050833"/>
            <a:ext cx="8972550" cy="1096899"/>
          </a:xfrm>
        </p:spPr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utiliser une IA de façon pertinente, sans en devenir dépendant ?</a:t>
            </a:r>
          </a:p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Pourquoi copier/coller une réponse ne permet-il pas d’apprendre ?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5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1A18A7-F823-20BE-FDEA-C1BFB97E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Objectifs de la séance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3AB601-03B7-C0E7-544E-1537DBE2C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987874" cy="3880773"/>
          </a:xfrm>
        </p:spPr>
        <p:txBody>
          <a:bodyPr anchor="ctr"/>
          <a:lstStyle/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Comprendre qu’une IA est un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outil d’aide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non un substitut à sa réflexion.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Distinguer un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pertinent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d’un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passif ou excessif.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Expliquer pourquoi le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copier/coller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d’une réponse d’IA n’aide pas à progresser.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Adopter une méthode simple pour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utiliser une IA intelligemment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dans un cadre scolaire.</a:t>
            </a:r>
          </a:p>
        </p:txBody>
      </p:sp>
    </p:spTree>
    <p:extLst>
      <p:ext uri="{BB962C8B-B14F-4D97-AF65-F5344CB8AC3E}">
        <p14:creationId xmlns:p14="http://schemas.microsoft.com/office/powerpoint/2010/main" val="138377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F89416-E8FB-9EAD-0999-3EB94E14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609600"/>
            <a:ext cx="9035877" cy="1320800"/>
          </a:xfrm>
        </p:spPr>
        <p:txBody>
          <a:bodyPr anchor="ctr">
            <a:norm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Compétences / notions officielles visées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033020-EC01-1E50-99D9-9312A6245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160589"/>
            <a:ext cx="9286875" cy="3880773"/>
          </a:xfrm>
        </p:spPr>
        <p:txBody>
          <a:bodyPr anchor="ctr"/>
          <a:lstStyle/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Développer un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raisonné, critique et responsable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outils numériques.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Exercer son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esprit critique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face à une réponse produite automatiquement.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Comprendre qu’un outil numérique doit être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interrogé, vérifié, reformulé et exploité avec discernement.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Savoir distinguer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comprendre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réutiliser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vérifier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copier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088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AAF5D19-3342-1D3B-6899-27DD0C8E2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8" y="813775"/>
            <a:ext cx="9134475" cy="1993392"/>
          </a:xfrm>
        </p:spPr>
        <p:txBody>
          <a:bodyPr anchor="ctr"/>
          <a:lstStyle/>
          <a:p>
            <a:pPr algn="ctr"/>
            <a:r>
              <a:rPr lang="fr-F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Accroche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61458CD7-B30F-F536-9F20-CA0A674D8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296" y="3429000"/>
            <a:ext cx="8165255" cy="1463040"/>
          </a:xfrm>
        </p:spPr>
        <p:txBody>
          <a:bodyPr anchor="ctr">
            <a:norm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IA peut répondre vite. Mais répondre vite ce n’est pas comprendre.</a:t>
            </a:r>
          </a:p>
          <a:p>
            <a:pPr algn="ctr"/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une machine fait ton devoir à ta place, qui apprend ?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983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6355D8-5B8E-F078-859F-AD197BE8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1"/>
            <a:ext cx="8094134" cy="1850136"/>
          </a:xfrm>
        </p:spPr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Historiquement parlant…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69AD7B-4B57-5880-1896-873E8DC7E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6139" y="2715288"/>
            <a:ext cx="7224524" cy="1570962"/>
          </a:xfrm>
        </p:spPr>
        <p:txBody>
          <a:bodyPr/>
          <a:lstStyle/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outils numériques ont toujours promis et permis de faire gagner du temps, mais en éducation, le but n’est pas seulement de produire une réponse, le but est de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construire une compréhension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une méthode, un raisonnement.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7866EE-216D-1189-0406-08B2DB3B0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calculatrice ne doit pas (et ne devrait pas) remplacer le fait de comprendre une opération.</a:t>
            </a:r>
          </a:p>
          <a:p>
            <a:pPr algn="ctr"/>
            <a:b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IA ne remplace pas le fait de comprendre une idée.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4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2378A6-70C0-0A05-ABA8-4411D6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IA peut aider, mais…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C82FD0-824B-9B6E-2505-F161D0258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6" y="2160589"/>
            <a:ext cx="4600574" cy="3880773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IA peut être utile pour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Reformuler une consigne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Expliquer un mot difficile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Proposer un plan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Donner un exemple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Aider à démarrer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Corriger grossièrement une formulation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Faire apparaître des pistes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E59EFAFE-8896-8948-FBDF-6EE5E57AC871}"/>
              </a:ext>
            </a:extLst>
          </p:cNvPr>
          <p:cNvSpPr txBox="1">
            <a:spLocks/>
          </p:cNvSpPr>
          <p:nvPr/>
        </p:nvSpPr>
        <p:spPr>
          <a:xfrm>
            <a:off x="4975668" y="2160588"/>
            <a:ext cx="460057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Mais elle ne doit pas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Penser à ta place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Dispenser de lire, comprendre, vérifier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Devenir une béquille permanente</a:t>
            </a: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Remplacer l’effort intellectuel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0BD67E-EE91-E440-F38A-F58991EDC882}"/>
              </a:ext>
            </a:extLst>
          </p:cNvPr>
          <p:cNvSpPr txBox="1"/>
          <p:nvPr/>
        </p:nvSpPr>
        <p:spPr>
          <a:xfrm>
            <a:off x="1660967" y="6178521"/>
            <a:ext cx="7915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L’IA peut assister le travail. Elle ne doit pas remplacer le travail.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58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92563-0B97-45E6-BE62-E81F4E21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Pourquoi copier/coller n’aide pas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A7FD40-7B60-4AA6-FE53-BB03F74D8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0590"/>
            <a:ext cx="5153025" cy="3234442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 un élève copie / colle une réponse d’IA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n’organise pas ses idées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ne cherche pas ses mots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ne construit pas son raisonnement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ne mémorise presque rien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ne repère pas ses erreurs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donne souvent une réponse qu’il ne comprend même pas.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240CF78-2008-6BAD-0B70-9AD04659B8FF}"/>
              </a:ext>
            </a:extLst>
          </p:cNvPr>
          <p:cNvSpPr txBox="1">
            <a:spLocks/>
          </p:cNvSpPr>
          <p:nvPr/>
        </p:nvSpPr>
        <p:spPr>
          <a:xfrm>
            <a:off x="5153025" y="2160590"/>
            <a:ext cx="5781675" cy="3234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Donc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produit un texte…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Mais il ne produit pas forcément un apprentissage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57484E3-C0B3-2202-1418-20BFDC9C6A02}"/>
              </a:ext>
            </a:extLst>
          </p:cNvPr>
          <p:cNvSpPr txBox="1"/>
          <p:nvPr/>
        </p:nvSpPr>
        <p:spPr>
          <a:xfrm>
            <a:off x="1466850" y="5625222"/>
            <a:ext cx="737235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Copier une réponse, ce n’est pas apprendre.</a:t>
            </a:r>
          </a:p>
          <a:p>
            <a:pPr algn="ctr"/>
            <a:b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Apprendre, c’est comprendre, reformuler, choisir, justifier.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69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F10C2-784F-E7AB-CC08-E061FBF85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dangers d’un mauvais usage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C9E179-2E61-0995-29FF-1B33F01E0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04216" cy="1320801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La passivité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L’élève ne cherche plus, il attend.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55CDFC6-D3F3-39CD-2C73-7705FC8CBCD2}"/>
              </a:ext>
            </a:extLst>
          </p:cNvPr>
          <p:cNvSpPr txBox="1">
            <a:spLocks/>
          </p:cNvSpPr>
          <p:nvPr/>
        </p:nvSpPr>
        <p:spPr>
          <a:xfrm>
            <a:off x="4975668" y="2160589"/>
            <a:ext cx="4104216" cy="13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L’illusion de compétence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devoir semble bon, mais l’élève est incapable d’expliquer ce qu’il a rendu.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4D606FD-4499-4272-866F-3D2D64BF806D}"/>
              </a:ext>
            </a:extLst>
          </p:cNvPr>
          <p:cNvSpPr txBox="1">
            <a:spLocks/>
          </p:cNvSpPr>
          <p:nvPr/>
        </p:nvSpPr>
        <p:spPr>
          <a:xfrm>
            <a:off x="677334" y="3572830"/>
            <a:ext cx="4104216" cy="13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Les erreurs invisibles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L’IA peut se tromper, inventer, simplifier à l’excès ou répondre à côté.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3FC1103F-C21B-41E3-7C54-A72A64E57997}"/>
              </a:ext>
            </a:extLst>
          </p:cNvPr>
          <p:cNvSpPr txBox="1">
            <a:spLocks/>
          </p:cNvSpPr>
          <p:nvPr/>
        </p:nvSpPr>
        <p:spPr>
          <a:xfrm>
            <a:off x="4975667" y="3572830"/>
            <a:ext cx="4298335" cy="13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La dépendance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 force de déléguer les débuts, les formulations, les idées, on perd peu à peu l’habitude de réfléchir seul.</a:t>
            </a:r>
          </a:p>
        </p:txBody>
      </p:sp>
    </p:spTree>
    <p:extLst>
      <p:ext uri="{BB962C8B-B14F-4D97-AF65-F5344CB8AC3E}">
        <p14:creationId xmlns:p14="http://schemas.microsoft.com/office/powerpoint/2010/main" val="3558093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CF1AE-E561-B3A2-2CC3-A3F3FB8C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bon usage : une règle simple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E7800F-06C9-A87F-FF8B-1596F79B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7579" y="1978946"/>
            <a:ext cx="3161241" cy="2336800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Utiliser une IA en 4 étapes: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 demande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 vérifie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 reformule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 m’approprie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B7EE7A9A-52C0-46A8-6470-4AE634693044}"/>
              </a:ext>
            </a:extLst>
          </p:cNvPr>
          <p:cNvSpPr txBox="1">
            <a:spLocks/>
          </p:cNvSpPr>
          <p:nvPr/>
        </p:nvSpPr>
        <p:spPr>
          <a:xfrm>
            <a:off x="902398" y="4364292"/>
            <a:ext cx="8371604" cy="233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Cependant: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je ne comprends pas la réponse, je ne dois pas l’utiliser telle quelle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je ne peux pas l’expliquer avec mes mots, ce n’est pas mon travail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je ne vérifie pas, je prends le risque de répéter une erreur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64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52A6-E070-1557-A26C-52078A69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9B75FF-577D-15B2-B27A-49C2A52E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 usage ou mauvais usage ?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8A13A3-5F88-C82E-1EC6-667BFA64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78946"/>
            <a:ext cx="8596667" cy="4269454"/>
          </a:xfrm>
        </p:spPr>
        <p:txBody>
          <a:bodyPr anchor="ctr"/>
          <a:lstStyle/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demande à une IA de m’expliquer un mot compliqué avec des mots simples.”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copie/colle toute la réponse dans mon devoir sans la relire.”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demande un plan, puis j’écris moi-même le développement.”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fais faire tout l’exercice par l’IA car je n’ai pas envie de réfléchir.”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demande à l’IA de me proposer 3 idées, puis je choisis celle que je comprends.”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recopie une explication que je ne serais pas capable de redire à l’oral.”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demande une reformulation d’un texte que j’ai déjà rédigé.”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“Je prends la réponse de l’IA comme vérité sans vérifier.”</a:t>
            </a:r>
          </a:p>
        </p:txBody>
      </p:sp>
    </p:spTree>
    <p:extLst>
      <p:ext uri="{BB962C8B-B14F-4D97-AF65-F5344CB8AC3E}">
        <p14:creationId xmlns:p14="http://schemas.microsoft.com/office/powerpoint/2010/main" val="115232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D01D-18CF-0CFC-F8D6-33F9A6B5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109A7D-6BD5-665B-A4D7-5516F285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 usage ou mauvais usage ?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82C513-04F6-9D11-CC0C-4F822368B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03" y="1982788"/>
            <a:ext cx="3300305" cy="2474182"/>
          </a:xfrm>
        </p:spPr>
        <p:txBody>
          <a:bodyPr anchor="ctr"/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bon usage de l’IA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 à comprendre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 à démarrer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 à vérifier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Aide à améliorer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3C38CD0-4273-BD13-94F5-DF5D5A776760}"/>
              </a:ext>
            </a:extLst>
          </p:cNvPr>
          <p:cNvSpPr txBox="1">
            <a:spLocks/>
          </p:cNvSpPr>
          <p:nvPr/>
        </p:nvSpPr>
        <p:spPr>
          <a:xfrm>
            <a:off x="4636008" y="1982788"/>
            <a:ext cx="4297002" cy="2474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mauvais usage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Remplace la réflexion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Évite l’effort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 l’incompréhension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Donne une illusion de travail</a:t>
            </a:r>
          </a:p>
        </p:txBody>
      </p:sp>
    </p:spTree>
    <p:extLst>
      <p:ext uri="{BB962C8B-B14F-4D97-AF65-F5344CB8AC3E}">
        <p14:creationId xmlns:p14="http://schemas.microsoft.com/office/powerpoint/2010/main" val="113363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6447-4E97-474B-4C23-DF43EF90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FF562-E2E2-C7EC-4C6E-BFECCFE7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résumer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3BF884-DD55-D68E-5D4A-379FC1F6E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982788"/>
            <a:ext cx="3108960" cy="247418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IA peut être utile pour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Comprendre une consigne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Obtenir une explication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Trouver des pistes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Reformuler un texte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Vérifier ou améliorer un travail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DCE9F3B-49A1-3C72-25EA-0F229558C076}"/>
              </a:ext>
            </a:extLst>
          </p:cNvPr>
          <p:cNvSpPr txBox="1">
            <a:spLocks/>
          </p:cNvSpPr>
          <p:nvPr/>
        </p:nvSpPr>
        <p:spPr>
          <a:xfrm>
            <a:off x="3726180" y="1938084"/>
            <a:ext cx="3108960" cy="2474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Mais elle ne doit pas remplacer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réflexion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compréhension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vérification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L’expression personnelle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E04ABB-CC0E-962B-6F45-DF431F4CBBA7}"/>
              </a:ext>
            </a:extLst>
          </p:cNvPr>
          <p:cNvSpPr txBox="1"/>
          <p:nvPr/>
        </p:nvSpPr>
        <p:spPr>
          <a:xfrm>
            <a:off x="1170432" y="5057215"/>
            <a:ext cx="7470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Règle essentielle:</a:t>
            </a:r>
          </a:p>
          <a:p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réponse d’IA n’a de valeur scolaire que si je la comprends, la vérifie et la reformule.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723359A-4EE4-AF32-C9EB-8A796A6DFF7B}"/>
              </a:ext>
            </a:extLst>
          </p:cNvPr>
          <p:cNvSpPr txBox="1">
            <a:spLocks/>
          </p:cNvSpPr>
          <p:nvPr/>
        </p:nvSpPr>
        <p:spPr>
          <a:xfrm>
            <a:off x="7086600" y="1982788"/>
            <a:ext cx="3108960" cy="2474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copier/coller :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N’aide pas à la compréhension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Empêche de mémoriser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Masque les difficultés</a:t>
            </a:r>
          </a:p>
          <a:p>
            <a:pPr lvl="0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 permet pas de progresser</a:t>
            </a:r>
          </a:p>
        </p:txBody>
      </p:sp>
    </p:spTree>
    <p:extLst>
      <p:ext uri="{BB962C8B-B14F-4D97-AF65-F5344CB8AC3E}">
        <p14:creationId xmlns:p14="http://schemas.microsoft.com/office/powerpoint/2010/main" val="2409228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D1F8E-57FB-B259-5DDB-65D8349B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/>
              <a:t>La charte de bon usage de l’IA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5F91FF-01E7-C54D-40E5-B70AA1CEB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2160589"/>
            <a:ext cx="9244584" cy="3880773"/>
          </a:xfrm>
        </p:spPr>
        <p:txBody>
          <a:bodyPr/>
          <a:lstStyle/>
          <a:p>
            <a:pPr marL="0" indent="0" algn="ctr">
              <a:buNone/>
            </a:pPr>
            <a:r>
              <a:rPr lang="fr-FR" b="1" dirty="0"/>
              <a:t>Vous allez rédiger une charte que vous nommerez :</a:t>
            </a:r>
          </a:p>
          <a:p>
            <a:pPr marL="0" indent="0" algn="ctr">
              <a:buNone/>
            </a:pPr>
            <a:r>
              <a:rPr lang="fr-FR" b="1" dirty="0"/>
              <a:t>“Bien utiliser une IA pour apprendre”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Elle doit contenir :</a:t>
            </a:r>
          </a:p>
          <a:p>
            <a:pPr marL="0" indent="0">
              <a:buNone/>
            </a:pPr>
            <a:endParaRPr lang="fr-FR" dirty="0"/>
          </a:p>
          <a:p>
            <a:pPr lvl="0"/>
            <a:r>
              <a:rPr lang="fr-FR" b="1" dirty="0"/>
              <a:t>3 choses à faire</a:t>
            </a:r>
            <a:endParaRPr lang="fr-FR" dirty="0"/>
          </a:p>
          <a:p>
            <a:pPr lvl="0"/>
            <a:r>
              <a:rPr lang="fr-FR" b="1" dirty="0"/>
              <a:t>3 choses à éviter</a:t>
            </a:r>
            <a:endParaRPr lang="fr-FR" dirty="0"/>
          </a:p>
          <a:p>
            <a:pPr lvl="0"/>
            <a:r>
              <a:rPr lang="fr-FR" b="1" dirty="0"/>
              <a:t>1 phrase de conclusion</a:t>
            </a:r>
            <a:r>
              <a:rPr lang="fr-FR" dirty="0"/>
              <a:t> répondant à la question :</a:t>
            </a:r>
            <a:br>
              <a:rPr lang="fr-FR" dirty="0"/>
            </a:br>
            <a:r>
              <a:rPr lang="fr-FR" b="1" dirty="0"/>
              <a:t>“À quoi peut servir une IA à l’école, si on l’utilise bien ?”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16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DFA3-F23E-A114-E5EF-15EE3D31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1EAF6-F6ED-C781-764C-30E9F609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ctr"/>
          <a:lstStyle/>
          <a:p>
            <a:pPr algn="ctr"/>
            <a:r>
              <a:rPr lang="fr-FR" b="1" dirty="0"/>
              <a:t>Mot de la fin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2B0CDE-1524-EA0A-F9A6-F573EA152DA9}"/>
              </a:ext>
            </a:extLst>
          </p:cNvPr>
          <p:cNvSpPr txBox="1"/>
          <p:nvPr/>
        </p:nvSpPr>
        <p:spPr>
          <a:xfrm>
            <a:off x="677334" y="1930400"/>
            <a:ext cx="900616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L’IA devient utile quand elle m’aide à penser.</a:t>
            </a:r>
          </a:p>
          <a:p>
            <a:pPr algn="ctr"/>
            <a:br>
              <a:rPr lang="fr-F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Elle devient néfaste quand elle m’évite de penser.</a:t>
            </a:r>
            <a:endParaRPr lang="fr-FR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3150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897</Words>
  <Application>Microsoft Office PowerPoint</Application>
  <PresentationFormat>Grand écran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Facette</vt:lpstr>
      <vt:lpstr>Séance 35 - Bien utiliser l’IA</vt:lpstr>
      <vt:lpstr>Objectifs de la séance</vt:lpstr>
      <vt:lpstr>Compétences / notions officielles visées</vt:lpstr>
      <vt:lpstr>Accroche</vt:lpstr>
      <vt:lpstr>Historiquement parlant…</vt:lpstr>
      <vt:lpstr>Une IA peut aider, mais…</vt:lpstr>
      <vt:lpstr>Pourquoi copier/coller n’aide pas</vt:lpstr>
      <vt:lpstr>Les dangers d’un mauvais usage</vt:lpstr>
      <vt:lpstr>Le bon usage : une règle simple</vt:lpstr>
      <vt:lpstr>Bon usage ou mauvais usage ?</vt:lpstr>
      <vt:lpstr>Bon usage ou mauvais usage ?</vt:lpstr>
      <vt:lpstr>Pour résumer</vt:lpstr>
      <vt:lpstr>La charte de bon usage de l’IA</vt:lpstr>
      <vt:lpstr>Mot de la 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tifaine secheret</dc:creator>
  <cp:lastModifiedBy>tifaine secheret</cp:lastModifiedBy>
  <cp:revision>39</cp:revision>
  <dcterms:created xsi:type="dcterms:W3CDTF">2026-03-17T14:16:17Z</dcterms:created>
  <dcterms:modified xsi:type="dcterms:W3CDTF">2026-03-18T14:12:15Z</dcterms:modified>
</cp:coreProperties>
</file>